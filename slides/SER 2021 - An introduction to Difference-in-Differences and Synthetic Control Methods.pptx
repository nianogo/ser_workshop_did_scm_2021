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36" r:id="rId1"/>
  </p:sldMasterIdLst>
  <p:notesMasterIdLst>
    <p:notesMasterId r:id="rId53"/>
  </p:notesMasterIdLst>
  <p:sldIdLst>
    <p:sldId id="334" r:id="rId2"/>
    <p:sldId id="455" r:id="rId3"/>
    <p:sldId id="308" r:id="rId4"/>
    <p:sldId id="452" r:id="rId5"/>
    <p:sldId id="338" r:id="rId6"/>
    <p:sldId id="300" r:id="rId7"/>
    <p:sldId id="339" r:id="rId8"/>
    <p:sldId id="292" r:id="rId9"/>
    <p:sldId id="340" r:id="rId10"/>
    <p:sldId id="341" r:id="rId11"/>
    <p:sldId id="310" r:id="rId12"/>
    <p:sldId id="385" r:id="rId13"/>
    <p:sldId id="312" r:id="rId14"/>
    <p:sldId id="425" r:id="rId15"/>
    <p:sldId id="313" r:id="rId16"/>
    <p:sldId id="349" r:id="rId17"/>
    <p:sldId id="427" r:id="rId18"/>
    <p:sldId id="434" r:id="rId19"/>
    <p:sldId id="435" r:id="rId20"/>
    <p:sldId id="436" r:id="rId21"/>
    <p:sldId id="380" r:id="rId22"/>
    <p:sldId id="335" r:id="rId23"/>
    <p:sldId id="443" r:id="rId24"/>
    <p:sldId id="350" r:id="rId25"/>
    <p:sldId id="352" r:id="rId26"/>
    <p:sldId id="351" r:id="rId27"/>
    <p:sldId id="383" r:id="rId28"/>
    <p:sldId id="441" r:id="rId29"/>
    <p:sldId id="262" r:id="rId30"/>
    <p:sldId id="264" r:id="rId31"/>
    <p:sldId id="268" r:id="rId32"/>
    <p:sldId id="270" r:id="rId33"/>
    <p:sldId id="271" r:id="rId34"/>
    <p:sldId id="272" r:id="rId35"/>
    <p:sldId id="426" r:id="rId36"/>
    <p:sldId id="429" r:id="rId37"/>
    <p:sldId id="430" r:id="rId38"/>
    <p:sldId id="431" r:id="rId39"/>
    <p:sldId id="439" r:id="rId40"/>
    <p:sldId id="438" r:id="rId41"/>
    <p:sldId id="440" r:id="rId42"/>
    <p:sldId id="444" r:id="rId43"/>
    <p:sldId id="447" r:id="rId44"/>
    <p:sldId id="446" r:id="rId45"/>
    <p:sldId id="445" r:id="rId46"/>
    <p:sldId id="448" r:id="rId47"/>
    <p:sldId id="449" r:id="rId48"/>
    <p:sldId id="450" r:id="rId49"/>
    <p:sldId id="453" r:id="rId50"/>
    <p:sldId id="454" r:id="rId51"/>
    <p:sldId id="320"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inzi Bailey" initials="ZB"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6" autoAdjust="0"/>
    <p:restoredTop sz="88710" autoAdjust="0"/>
  </p:normalViewPr>
  <p:slideViewPr>
    <p:cSldViewPr snapToGrid="0">
      <p:cViewPr varScale="1">
        <p:scale>
          <a:sx n="101" d="100"/>
          <a:sy n="101" d="100"/>
        </p:scale>
        <p:origin x="702"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7-08T00:10:16.148"/>
    </inkml:context>
    <inkml:brush xml:id="br0">
      <inkml:brushProperty name="width" value="0.2" units="cm"/>
      <inkml:brushProperty name="height" value="0.2" units="cm"/>
      <inkml:brushProperty name="color" value="#66CC00"/>
      <inkml:brushProperty name="ignorePressure" value="1"/>
    </inkml:brush>
  </inkml:definitions>
  <inkml:trace contextRef="#ctx0" brushRef="#br0">0 2024,'0'-2000,"0"1977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7-08T00:10:17.269"/>
    </inkml:context>
    <inkml:brush xml:id="br0">
      <inkml:brushProperty name="width" value="0.2" units="cm"/>
      <inkml:brushProperty name="height" value="0.2" units="cm"/>
      <inkml:brushProperty name="color" value="#66CC00"/>
      <inkml:brushProperty name="ignorePressure" value="1"/>
    </inkml:brush>
  </inkml:definitions>
  <inkml:trace contextRef="#ctx0" brushRef="#br0">1 449,'9'-11,"0"0,-1 0,14-25,-14 22,0 1,19-24,57-61,54-55,-124 139,-8 8,0 0,0 0,1 0,0 1,0 0,12-6,-16 10,1 0,-1 0,0 0,1 1,-1-1,1 1,-1 0,1 0,0 0,-1 0,1 1,-1 0,1-1,-1 1,0 0,1 1,-1-1,0 1,6 3,17 12,0 1,-1 1,37 37,14 11,-62-56,0 1,-1 0,0 1,-1 0,0 1,-1 0,-1 1,-1 0,0 1,0 0,-2 0,0 1,-1-1,-1 2,5 21,-7-17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9C2D-40EA-421D-B700-EE6276FE78C5}" type="datetimeFigureOut">
              <a:rPr lang="en-CA" smtClean="0"/>
              <a:pPr/>
              <a:t>2021-07-08</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77A6B8-4A07-4E81-8CDD-4D7056F92008}" type="slidenum">
              <a:rPr lang="en-CA" smtClean="0"/>
              <a:pPr/>
              <a:t>‹N°›</a:t>
            </a:fld>
            <a:endParaRPr lang="en-CA"/>
          </a:p>
        </p:txBody>
      </p:sp>
    </p:spTree>
    <p:extLst>
      <p:ext uri="{BB962C8B-B14F-4D97-AF65-F5344CB8AC3E}">
        <p14:creationId xmlns:p14="http://schemas.microsoft.com/office/powerpoint/2010/main" val="1033822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DD77A6B8-4A07-4E81-8CDD-4D7056F92008}" type="slidenum">
              <a:rPr lang="en-CA" smtClean="0"/>
              <a:pPr/>
              <a:t>1</a:t>
            </a:fld>
            <a:endParaRPr lang="en-CA"/>
          </a:p>
        </p:txBody>
      </p:sp>
    </p:spTree>
    <p:extLst>
      <p:ext uri="{BB962C8B-B14F-4D97-AF65-F5344CB8AC3E}">
        <p14:creationId xmlns:p14="http://schemas.microsoft.com/office/powerpoint/2010/main" val="1797329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DD77A6B8-4A07-4E81-8CDD-4D7056F92008}" type="slidenum">
              <a:rPr lang="en-CA" smtClean="0"/>
              <a:pPr/>
              <a:t>3</a:t>
            </a:fld>
            <a:endParaRPr lang="en-CA"/>
          </a:p>
        </p:txBody>
      </p:sp>
    </p:spTree>
    <p:extLst>
      <p:ext uri="{BB962C8B-B14F-4D97-AF65-F5344CB8AC3E}">
        <p14:creationId xmlns:p14="http://schemas.microsoft.com/office/powerpoint/2010/main" val="7534781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10"/>
          </p:nvPr>
        </p:nvSpPr>
        <p:spPr/>
        <p:txBody>
          <a:bodyPr/>
          <a:lstStyle/>
          <a:p>
            <a:fld id="{DD77A6B8-4A07-4E81-8CDD-4D7056F92008}" type="slidenum">
              <a:rPr lang="en-CA" smtClean="0"/>
              <a:pPr/>
              <a:t>5</a:t>
            </a:fld>
            <a:endParaRPr lang="en-CA"/>
          </a:p>
        </p:txBody>
      </p:sp>
    </p:spTree>
    <p:extLst>
      <p:ext uri="{BB962C8B-B14F-4D97-AF65-F5344CB8AC3E}">
        <p14:creationId xmlns:p14="http://schemas.microsoft.com/office/powerpoint/2010/main" val="336310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10"/>
          </p:nvPr>
        </p:nvSpPr>
        <p:spPr/>
        <p:txBody>
          <a:bodyPr/>
          <a:lstStyle/>
          <a:p>
            <a:fld id="{DD77A6B8-4A07-4E81-8CDD-4D7056F92008}" type="slidenum">
              <a:rPr lang="en-CA" smtClean="0"/>
              <a:pPr/>
              <a:t>7</a:t>
            </a:fld>
            <a:endParaRPr lang="en-CA"/>
          </a:p>
        </p:txBody>
      </p:sp>
    </p:spTree>
    <p:extLst>
      <p:ext uri="{BB962C8B-B14F-4D97-AF65-F5344CB8AC3E}">
        <p14:creationId xmlns:p14="http://schemas.microsoft.com/office/powerpoint/2010/main" val="13157530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10"/>
          </p:nvPr>
        </p:nvSpPr>
        <p:spPr/>
        <p:txBody>
          <a:bodyPr/>
          <a:lstStyle/>
          <a:p>
            <a:fld id="{DD77A6B8-4A07-4E81-8CDD-4D7056F92008}" type="slidenum">
              <a:rPr lang="en-CA" smtClean="0"/>
              <a:pPr/>
              <a:t>9</a:t>
            </a:fld>
            <a:endParaRPr lang="en-CA"/>
          </a:p>
        </p:txBody>
      </p:sp>
    </p:spTree>
    <p:extLst>
      <p:ext uri="{BB962C8B-B14F-4D97-AF65-F5344CB8AC3E}">
        <p14:creationId xmlns:p14="http://schemas.microsoft.com/office/powerpoint/2010/main" val="22311551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10"/>
          </p:nvPr>
        </p:nvSpPr>
        <p:spPr/>
        <p:txBody>
          <a:bodyPr/>
          <a:lstStyle/>
          <a:p>
            <a:fld id="{DD77A6B8-4A07-4E81-8CDD-4D7056F92008}" type="slidenum">
              <a:rPr lang="en-CA" smtClean="0"/>
              <a:pPr/>
              <a:t>11</a:t>
            </a:fld>
            <a:endParaRPr lang="en-CA"/>
          </a:p>
        </p:txBody>
      </p:sp>
    </p:spTree>
    <p:extLst>
      <p:ext uri="{BB962C8B-B14F-4D97-AF65-F5344CB8AC3E}">
        <p14:creationId xmlns:p14="http://schemas.microsoft.com/office/powerpoint/2010/main" val="3192062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10"/>
          </p:nvPr>
        </p:nvSpPr>
        <p:spPr/>
        <p:txBody>
          <a:bodyPr/>
          <a:lstStyle/>
          <a:p>
            <a:fld id="{DD77A6B8-4A07-4E81-8CDD-4D7056F92008}" type="slidenum">
              <a:rPr lang="en-CA" smtClean="0"/>
              <a:pPr/>
              <a:t>12</a:t>
            </a:fld>
            <a:endParaRPr lang="en-CA"/>
          </a:p>
        </p:txBody>
      </p:sp>
    </p:spTree>
    <p:extLst>
      <p:ext uri="{BB962C8B-B14F-4D97-AF65-F5344CB8AC3E}">
        <p14:creationId xmlns:p14="http://schemas.microsoft.com/office/powerpoint/2010/main" val="31520014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DD77A6B8-4A07-4E81-8CDD-4D7056F92008}" type="slidenum">
              <a:rPr lang="en-CA" smtClean="0"/>
              <a:pPr/>
              <a:t>13</a:t>
            </a:fld>
            <a:endParaRPr lang="en-CA"/>
          </a:p>
        </p:txBody>
      </p:sp>
    </p:spTree>
    <p:extLst>
      <p:ext uri="{BB962C8B-B14F-4D97-AF65-F5344CB8AC3E}">
        <p14:creationId xmlns:p14="http://schemas.microsoft.com/office/powerpoint/2010/main" val="30019328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10"/>
          </p:nvPr>
        </p:nvSpPr>
        <p:spPr/>
        <p:txBody>
          <a:bodyPr/>
          <a:lstStyle/>
          <a:p>
            <a:fld id="{DD77A6B8-4A07-4E81-8CDD-4D7056F92008}" type="slidenum">
              <a:rPr lang="en-CA" smtClean="0"/>
              <a:pPr/>
              <a:t>15</a:t>
            </a:fld>
            <a:endParaRPr lang="en-CA"/>
          </a:p>
        </p:txBody>
      </p:sp>
    </p:spTree>
    <p:extLst>
      <p:ext uri="{BB962C8B-B14F-4D97-AF65-F5344CB8AC3E}">
        <p14:creationId xmlns:p14="http://schemas.microsoft.com/office/powerpoint/2010/main" val="22342597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88f2f7bec4_1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88f2f7bec4_1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Extensions to overcome limitations - we will focus on gsynth</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88f2f7bec4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88f2f7bec4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SC does not handle time varying confounding well</a:t>
            </a:r>
            <a:endParaRPr/>
          </a:p>
          <a:p>
            <a:pPr marL="0" lvl="0" indent="0" algn="l" rtl="0">
              <a:spcBef>
                <a:spcPts val="0"/>
              </a:spcBef>
              <a:spcAft>
                <a:spcPts val="0"/>
              </a:spcAft>
              <a:buNone/>
            </a:pPr>
            <a:r>
              <a:rPr lang="en"/>
              <a:t>Case-cross over, time series, excess mortality risk are some common methods</a:t>
            </a:r>
            <a:endParaRPr/>
          </a:p>
          <a:p>
            <a:pPr marL="0" lvl="0" indent="0" algn="l" rtl="0">
              <a:spcBef>
                <a:spcPts val="0"/>
              </a:spcBef>
              <a:spcAft>
                <a:spcPts val="0"/>
              </a:spcAft>
              <a:buNone/>
            </a:pPr>
            <a:r>
              <a:rPr lang="en"/>
              <a:t>Exess mortality - frequent detailed data</a:t>
            </a:r>
            <a:endParaRPr/>
          </a:p>
          <a:p>
            <a:pPr marL="0" lvl="0" indent="0" algn="l" rtl="0">
              <a:spcBef>
                <a:spcPts val="0"/>
              </a:spcBef>
              <a:spcAft>
                <a:spcPts val="0"/>
              </a:spcAft>
              <a:buNone/>
            </a:pPr>
            <a:r>
              <a:rPr lang="en"/>
              <a:t>Case cross-over only useful for acute events with brief effects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88f2f7bec4_1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88f2f7bec4_1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300">
                <a:solidFill>
                  <a:schemeClr val="accent1"/>
                </a:solidFill>
                <a:latin typeface="Lato"/>
                <a:ea typeface="Lato"/>
                <a:cs typeface="Lato"/>
                <a:sym typeface="Lato"/>
              </a:rPr>
              <a:t>The unobserved treatment free potential outcome of the treated units in the post-treatment period is imputed in three steps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88f2f7bec4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88f2f7bec4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8a6e90529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8a6e90529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8a6e905292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8a6e905292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10"/>
          </p:nvPr>
        </p:nvSpPr>
        <p:spPr/>
        <p:txBody>
          <a:bodyPr/>
          <a:lstStyle/>
          <a:p>
            <a:fld id="{DD77A6B8-4A07-4E81-8CDD-4D7056F92008}" type="slidenum">
              <a:rPr lang="en-CA" smtClean="0"/>
              <a:pPr/>
              <a:t>36</a:t>
            </a:fld>
            <a:endParaRPr lang="en-CA"/>
          </a:p>
        </p:txBody>
      </p:sp>
    </p:spTree>
    <p:extLst>
      <p:ext uri="{BB962C8B-B14F-4D97-AF65-F5344CB8AC3E}">
        <p14:creationId xmlns:p14="http://schemas.microsoft.com/office/powerpoint/2010/main" val="13869885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en-US" dirty="0"/>
              <a:t>Fixed</a:t>
            </a:r>
            <a:r>
              <a:rPr lang="en-US" baseline="0" dirty="0"/>
              <a:t> effect approach for time trends </a:t>
            </a:r>
            <a:endParaRPr lang="en-US" dirty="0"/>
          </a:p>
        </p:txBody>
      </p:sp>
      <p:sp>
        <p:nvSpPr>
          <p:cNvPr id="4" name="Espace réservé du numéro de diapositive 3"/>
          <p:cNvSpPr>
            <a:spLocks noGrp="1"/>
          </p:cNvSpPr>
          <p:nvPr>
            <p:ph type="sldNum" sz="quarter" idx="10"/>
          </p:nvPr>
        </p:nvSpPr>
        <p:spPr/>
        <p:txBody>
          <a:bodyPr/>
          <a:lstStyle/>
          <a:p>
            <a:fld id="{DD77A6B8-4A07-4E81-8CDD-4D7056F92008}" type="slidenum">
              <a:rPr lang="en-CA" smtClean="0"/>
              <a:pPr/>
              <a:t>37</a:t>
            </a:fld>
            <a:endParaRPr lang="en-CA"/>
          </a:p>
        </p:txBody>
      </p:sp>
    </p:spTree>
    <p:extLst>
      <p:ext uri="{BB962C8B-B14F-4D97-AF65-F5344CB8AC3E}">
        <p14:creationId xmlns:p14="http://schemas.microsoft.com/office/powerpoint/2010/main" val="1358428287"/>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fr-FR"/>
              <a:t>Modifiez le style du titre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90298CD5-6C1E-4009-B41F-6DF62E31D3BE}" type="datetimeFigureOut">
              <a:rPr lang="en-US" smtClean="0"/>
              <a:pPr/>
              <a:t>7/8/2021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3462140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0298CD5-6C1E-4009-B41F-6DF62E31D3BE}" type="datetimeFigureOut">
              <a:rPr lang="en-US" smtClean="0"/>
              <a:pPr/>
              <a:t>7/8/2021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1669664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fr-FR"/>
              <a:t>Modifiez le style du titre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8593667" y="6272784"/>
            <a:ext cx="2644309" cy="365125"/>
          </a:xfrm>
        </p:spPr>
        <p:txBody>
          <a:bodyPr/>
          <a:lstStyle/>
          <a:p>
            <a:fld id="{90298CD5-6C1E-4009-B41F-6DF62E31D3BE}" type="datetimeFigureOut">
              <a:rPr lang="en-US" smtClean="0"/>
              <a:pPr/>
              <a:t>7/8/2021</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2447009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90298CD5-6C1E-4009-B41F-6DF62E31D3BE}" type="datetimeFigureOut">
              <a:rPr lang="en-US" smtClean="0"/>
              <a:pPr/>
              <a:t>7/8/2021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3680503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90298CD5-6C1E-4009-B41F-6DF62E31D3BE}" type="datetimeFigureOut">
              <a:rPr lang="en-US" smtClean="0"/>
              <a:pPr/>
              <a:t>7/8/2021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4128433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90298CD5-6C1E-4009-B41F-6DF62E31D3BE}" type="datetimeFigureOut">
              <a:rPr lang="en-US" smtClean="0"/>
              <a:pPr/>
              <a:t>7/8/2021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4190224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298CD5-6C1E-4009-B41F-6DF62E31D3BE}" type="datetimeFigureOut">
              <a:rPr lang="en-US" smtClean="0"/>
              <a:pPr/>
              <a:t>7/8/2021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3541263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fr-FR"/>
              <a:t>Modifiez le style du titre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90298CD5-6C1E-4009-B41F-6DF62E31D3BE}" type="datetimeFigureOut">
              <a:rPr lang="en-US" smtClean="0"/>
              <a:pPr/>
              <a:t>7/8/2021</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2744628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fr-FR"/>
              <a:t>Modifiez le style du titre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90298CD5-6C1E-4009-B41F-6DF62E31D3BE}" type="datetimeFigureOut">
              <a:rPr lang="en-US" smtClean="0"/>
              <a:pPr/>
              <a:t>7/8/2021</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4172602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0298CD5-6C1E-4009-B41F-6DF62E31D3BE}" type="datetimeFigureOut">
              <a:rPr lang="en-US" smtClean="0"/>
              <a:pPr/>
              <a:t>7/8/2021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29133586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0298CD5-6C1E-4009-B41F-6DF62E31D3BE}" type="datetimeFigureOut">
              <a:rPr lang="en-US" smtClean="0"/>
              <a:pPr/>
              <a:t>7/8/2021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28185211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3"/>
        <p:cNvGrpSpPr/>
        <p:nvPr/>
      </p:nvGrpSpPr>
      <p:grpSpPr>
        <a:xfrm>
          <a:off x="0" y="0"/>
          <a:ext cx="0" cy="0"/>
          <a:chOff x="0" y="0"/>
          <a:chExt cx="0" cy="0"/>
        </a:xfrm>
      </p:grpSpPr>
      <p:sp>
        <p:nvSpPr>
          <p:cNvPr id="28" name="Google Shape;28;p4"/>
          <p:cNvSpPr txBox="1">
            <a:spLocks noGrp="1"/>
          </p:cNvSpPr>
          <p:nvPr>
            <p:ph type="title"/>
          </p:nvPr>
        </p:nvSpPr>
        <p:spPr>
          <a:xfrm>
            <a:off x="972600" y="1758200"/>
            <a:ext cx="10251600" cy="7136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3467">
                <a:solidFill>
                  <a:schemeClr val="dk2"/>
                </a:solidFill>
              </a:defRPr>
            </a:lvl1pPr>
            <a:lvl2pPr lvl="1">
              <a:spcBef>
                <a:spcPts val="0"/>
              </a:spcBef>
              <a:spcAft>
                <a:spcPts val="0"/>
              </a:spcAft>
              <a:buClr>
                <a:schemeClr val="dk2"/>
              </a:buClr>
              <a:buSzPts val="2600"/>
              <a:buNone/>
              <a:defRPr sz="3467">
                <a:solidFill>
                  <a:schemeClr val="dk2"/>
                </a:solidFill>
              </a:defRPr>
            </a:lvl2pPr>
            <a:lvl3pPr lvl="2">
              <a:spcBef>
                <a:spcPts val="0"/>
              </a:spcBef>
              <a:spcAft>
                <a:spcPts val="0"/>
              </a:spcAft>
              <a:buClr>
                <a:schemeClr val="dk2"/>
              </a:buClr>
              <a:buSzPts val="2600"/>
              <a:buNone/>
              <a:defRPr sz="3467">
                <a:solidFill>
                  <a:schemeClr val="dk2"/>
                </a:solidFill>
              </a:defRPr>
            </a:lvl3pPr>
            <a:lvl4pPr lvl="3">
              <a:spcBef>
                <a:spcPts val="0"/>
              </a:spcBef>
              <a:spcAft>
                <a:spcPts val="0"/>
              </a:spcAft>
              <a:buClr>
                <a:schemeClr val="dk2"/>
              </a:buClr>
              <a:buSzPts val="2600"/>
              <a:buNone/>
              <a:defRPr sz="3467">
                <a:solidFill>
                  <a:schemeClr val="dk2"/>
                </a:solidFill>
              </a:defRPr>
            </a:lvl4pPr>
            <a:lvl5pPr lvl="4">
              <a:spcBef>
                <a:spcPts val="0"/>
              </a:spcBef>
              <a:spcAft>
                <a:spcPts val="0"/>
              </a:spcAft>
              <a:buClr>
                <a:schemeClr val="dk2"/>
              </a:buClr>
              <a:buSzPts val="2600"/>
              <a:buNone/>
              <a:defRPr sz="3467">
                <a:solidFill>
                  <a:schemeClr val="dk2"/>
                </a:solidFill>
              </a:defRPr>
            </a:lvl5pPr>
            <a:lvl6pPr lvl="5">
              <a:spcBef>
                <a:spcPts val="0"/>
              </a:spcBef>
              <a:spcAft>
                <a:spcPts val="0"/>
              </a:spcAft>
              <a:buClr>
                <a:schemeClr val="dk2"/>
              </a:buClr>
              <a:buSzPts val="2600"/>
              <a:buNone/>
              <a:defRPr sz="3467">
                <a:solidFill>
                  <a:schemeClr val="dk2"/>
                </a:solidFill>
              </a:defRPr>
            </a:lvl6pPr>
            <a:lvl7pPr lvl="6">
              <a:spcBef>
                <a:spcPts val="0"/>
              </a:spcBef>
              <a:spcAft>
                <a:spcPts val="0"/>
              </a:spcAft>
              <a:buClr>
                <a:schemeClr val="dk2"/>
              </a:buClr>
              <a:buSzPts val="2600"/>
              <a:buNone/>
              <a:defRPr sz="3467">
                <a:solidFill>
                  <a:schemeClr val="dk2"/>
                </a:solidFill>
              </a:defRPr>
            </a:lvl7pPr>
            <a:lvl8pPr lvl="7">
              <a:spcBef>
                <a:spcPts val="0"/>
              </a:spcBef>
              <a:spcAft>
                <a:spcPts val="0"/>
              </a:spcAft>
              <a:buClr>
                <a:schemeClr val="dk2"/>
              </a:buClr>
              <a:buSzPts val="2600"/>
              <a:buNone/>
              <a:defRPr sz="3467">
                <a:solidFill>
                  <a:schemeClr val="dk2"/>
                </a:solidFill>
              </a:defRPr>
            </a:lvl8pPr>
            <a:lvl9pPr lvl="8">
              <a:spcBef>
                <a:spcPts val="0"/>
              </a:spcBef>
              <a:spcAft>
                <a:spcPts val="0"/>
              </a:spcAft>
              <a:buClr>
                <a:schemeClr val="dk2"/>
              </a:buClr>
              <a:buSzPts val="2600"/>
              <a:buNone/>
              <a:defRPr sz="3467">
                <a:solidFill>
                  <a:schemeClr val="dk2"/>
                </a:solidFill>
              </a:defRPr>
            </a:lvl9pPr>
          </a:lstStyle>
          <a:p>
            <a:endParaRPr/>
          </a:p>
        </p:txBody>
      </p:sp>
      <p:sp>
        <p:nvSpPr>
          <p:cNvPr id="29" name="Google Shape;29;p4"/>
          <p:cNvSpPr txBox="1">
            <a:spLocks noGrp="1"/>
          </p:cNvSpPr>
          <p:nvPr>
            <p:ph type="body" idx="1"/>
          </p:nvPr>
        </p:nvSpPr>
        <p:spPr>
          <a:xfrm>
            <a:off x="972600" y="2771833"/>
            <a:ext cx="10251600" cy="3014800"/>
          </a:xfrm>
          <a:prstGeom prst="rect">
            <a:avLst/>
          </a:prstGeom>
        </p:spPr>
        <p:txBody>
          <a:bodyPr spcFirstLastPara="1" wrap="square" lIns="91425" tIns="91425" rIns="91425" bIns="91425" anchor="t" anchorCtr="0">
            <a:noAutofit/>
          </a:bodyPr>
          <a:lstStyle>
            <a:lvl1pPr marL="609585" lvl="0" indent="-414856">
              <a:spcBef>
                <a:spcPts val="0"/>
              </a:spcBef>
              <a:spcAft>
                <a:spcPts val="0"/>
              </a:spcAft>
              <a:buSzPts val="1300"/>
              <a:buChar char="●"/>
              <a:defRPr/>
            </a:lvl1pPr>
            <a:lvl2pPr marL="1219170" lvl="1" indent="-397923">
              <a:spcBef>
                <a:spcPts val="2133"/>
              </a:spcBef>
              <a:spcAft>
                <a:spcPts val="0"/>
              </a:spcAft>
              <a:buSzPts val="1100"/>
              <a:buChar char="○"/>
              <a:defRPr/>
            </a:lvl2pPr>
            <a:lvl3pPr marL="1828754" lvl="2" indent="-397923">
              <a:spcBef>
                <a:spcPts val="2133"/>
              </a:spcBef>
              <a:spcAft>
                <a:spcPts val="0"/>
              </a:spcAft>
              <a:buSzPts val="1100"/>
              <a:buChar char="■"/>
              <a:defRPr/>
            </a:lvl3pPr>
            <a:lvl4pPr marL="2438339" lvl="3" indent="-397923">
              <a:spcBef>
                <a:spcPts val="2133"/>
              </a:spcBef>
              <a:spcAft>
                <a:spcPts val="0"/>
              </a:spcAft>
              <a:buSzPts val="1100"/>
              <a:buChar char="●"/>
              <a:defRPr/>
            </a:lvl4pPr>
            <a:lvl5pPr marL="3047924" lvl="4" indent="-397923">
              <a:spcBef>
                <a:spcPts val="2133"/>
              </a:spcBef>
              <a:spcAft>
                <a:spcPts val="0"/>
              </a:spcAft>
              <a:buSzPts val="1100"/>
              <a:buChar char="○"/>
              <a:defRPr/>
            </a:lvl5pPr>
            <a:lvl6pPr marL="3657509" lvl="5" indent="-397923">
              <a:spcBef>
                <a:spcPts val="2133"/>
              </a:spcBef>
              <a:spcAft>
                <a:spcPts val="0"/>
              </a:spcAft>
              <a:buSzPts val="1100"/>
              <a:buChar char="■"/>
              <a:defRPr/>
            </a:lvl6pPr>
            <a:lvl7pPr marL="4267093" lvl="6" indent="-397923">
              <a:spcBef>
                <a:spcPts val="2133"/>
              </a:spcBef>
              <a:spcAft>
                <a:spcPts val="0"/>
              </a:spcAft>
              <a:buSzPts val="1100"/>
              <a:buChar char="●"/>
              <a:defRPr/>
            </a:lvl7pPr>
            <a:lvl8pPr marL="4876678" lvl="7" indent="-397923">
              <a:spcBef>
                <a:spcPts val="2133"/>
              </a:spcBef>
              <a:spcAft>
                <a:spcPts val="0"/>
              </a:spcAft>
              <a:buSzPts val="1100"/>
              <a:buChar char="○"/>
              <a:defRPr/>
            </a:lvl8pPr>
            <a:lvl9pPr marL="5486263" lvl="8" indent="-397923">
              <a:spcBef>
                <a:spcPts val="2133"/>
              </a:spcBef>
              <a:spcAft>
                <a:spcPts val="2133"/>
              </a:spcAft>
              <a:buSzPts val="1100"/>
              <a:buChar char="■"/>
              <a:defRPr/>
            </a:lvl9pPr>
          </a:lstStyle>
          <a:p>
            <a:endParaRPr/>
          </a:p>
        </p:txBody>
      </p:sp>
      <p:sp>
        <p:nvSpPr>
          <p:cNvPr id="30" name="Google Shape;30;p4"/>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smtClean="0"/>
              <a:pPr algn="r"/>
              <a:t>‹N°›</a:t>
            </a:fld>
            <a:endParaRPr lang="en-US"/>
          </a:p>
        </p:txBody>
      </p:sp>
    </p:spTree>
    <p:extLst>
      <p:ext uri="{BB962C8B-B14F-4D97-AF65-F5344CB8AC3E}">
        <p14:creationId xmlns:p14="http://schemas.microsoft.com/office/powerpoint/2010/main" val="737806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90298CD5-6C1E-4009-B41F-6DF62E31D3BE}" type="datetimeFigureOut">
              <a:rPr lang="en-US" smtClean="0"/>
              <a:pPr/>
              <a:t>7/8/2021</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4252809761"/>
      </p:ext>
    </p:extLst>
  </p:cSld>
  <p:clrMap bg1="lt1" tx1="dk1" bg2="lt2" tx2="dk2" accent1="accent1" accent2="accent2" accent3="accent3" accent4="accent4" accent5="accent5" accent6="accent6" hlink="hlink" folHlink="folHlink"/>
  <p:sldLayoutIdLst>
    <p:sldLayoutId id="2147483837" r:id="rId1"/>
    <p:sldLayoutId id="2147483838" r:id="rId2"/>
    <p:sldLayoutId id="2147483839" r:id="rId3"/>
    <p:sldLayoutId id="2147483840" r:id="rId4"/>
    <p:sldLayoutId id="2147483841" r:id="rId5"/>
    <p:sldLayoutId id="2147483842" r:id="rId6"/>
    <p:sldLayoutId id="2147483843" r:id="rId7"/>
    <p:sldLayoutId id="2147483844" r:id="rId8"/>
    <p:sldLayoutId id="2147483845" r:id="rId9"/>
    <p:sldLayoutId id="2147483846" r:id="rId10"/>
    <p:sldLayoutId id="2147483847" r:id="rId11"/>
    <p:sldLayoutId id="2147483848" r:id="rId12"/>
  </p:sldLayoutIdLst>
  <p:txStyles>
    <p:titleStyle>
      <a:lvl1pPr algn="l" defTabSz="914400" rtl="0" eaLnBrk="1" latinLnBrk="0" hangingPunct="1">
        <a:lnSpc>
          <a:spcPct val="90000"/>
        </a:lnSpc>
        <a:spcBef>
          <a:spcPct val="0"/>
        </a:spcBef>
        <a:buNone/>
        <a:defRPr sz="540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2" Type="http://schemas.openxmlformats.org/officeDocument/2006/relationships/hyperlink" Target="https://onlinelibrary.wiley.com/doi/epdf/10.1111/1475-6773.13697"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38.emf"/><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41.png"/></Relationships>
</file>

<file path=ppt/slides/_rels/slide3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4.jpe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480.png"/><Relationship Id="rId5" Type="http://schemas.openxmlformats.org/officeDocument/2006/relationships/customXml" Target="../ink/ink2.xml"/><Relationship Id="rId4" Type="http://schemas.openxmlformats.org/officeDocument/2006/relationships/image" Target="../media/image470.png"/></Relationships>
</file>

<file path=ppt/slides/_rels/slide4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mailto:tbenmarhnia@ucsd.edu" TargetMode="External"/><Relationship Id="rId2" Type="http://schemas.openxmlformats.org/officeDocument/2006/relationships/hyperlink" Target="mailto:niaroch@ucla.edu"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9298" y="2072625"/>
            <a:ext cx="9825127" cy="1665722"/>
          </a:xfrm>
        </p:spPr>
        <p:txBody>
          <a:bodyPr/>
          <a:lstStyle/>
          <a:p>
            <a:pPr algn="ctr"/>
            <a:r>
              <a:rPr lang="en-US" sz="5400" cap="small" dirty="0">
                <a:solidFill>
                  <a:schemeClr val="tx1"/>
                </a:solidFill>
              </a:rPr>
              <a:t>An introduction to Difference-in-Differences and Synthetic Control Methods for Epidemiologists</a:t>
            </a:r>
            <a:endParaRPr lang="en-CA" sz="5400" cap="small" dirty="0">
              <a:solidFill>
                <a:schemeClr val="tx1"/>
              </a:solidFill>
            </a:endParaRPr>
          </a:p>
        </p:txBody>
      </p:sp>
      <p:sp>
        <p:nvSpPr>
          <p:cNvPr id="3" name="Subtitle 2"/>
          <p:cNvSpPr>
            <a:spLocks noGrp="1"/>
          </p:cNvSpPr>
          <p:nvPr>
            <p:ph type="subTitle" idx="1"/>
          </p:nvPr>
        </p:nvSpPr>
        <p:spPr>
          <a:xfrm>
            <a:off x="1069298" y="4550760"/>
            <a:ext cx="11122702" cy="2171861"/>
          </a:xfrm>
        </p:spPr>
        <p:txBody>
          <a:bodyPr>
            <a:noAutofit/>
          </a:bodyPr>
          <a:lstStyle/>
          <a:p>
            <a:r>
              <a:rPr lang="fr-FR" sz="2800" dirty="0"/>
              <a:t>09 July 2021</a:t>
            </a:r>
          </a:p>
          <a:p>
            <a:r>
              <a:rPr lang="en-US" sz="2800" dirty="0"/>
              <a:t>SER 54th Annual Meeting Workshop</a:t>
            </a:r>
          </a:p>
          <a:p>
            <a:r>
              <a:rPr lang="en-US" sz="2800" dirty="0" err="1"/>
              <a:t>Roch</a:t>
            </a:r>
            <a:r>
              <a:rPr lang="en-US" sz="2800" dirty="0"/>
              <a:t> </a:t>
            </a:r>
            <a:r>
              <a:rPr lang="en-US" sz="2800" dirty="0" err="1"/>
              <a:t>Nianogo</a:t>
            </a:r>
            <a:r>
              <a:rPr lang="en-US" sz="2800" dirty="0"/>
              <a:t> and Tarik Benmarhnia</a:t>
            </a:r>
            <a:endParaRPr lang="fr-FR" sz="2800" dirty="0"/>
          </a:p>
        </p:txBody>
      </p:sp>
    </p:spTree>
    <p:extLst>
      <p:ext uri="{BB962C8B-B14F-4D97-AF65-F5344CB8AC3E}">
        <p14:creationId xmlns:p14="http://schemas.microsoft.com/office/powerpoint/2010/main" val="3211751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CC9C24-F859-40F7-AACB-950EA6F6C4CB}"/>
              </a:ext>
            </a:extLst>
          </p:cNvPr>
          <p:cNvSpPr>
            <a:spLocks noGrp="1"/>
          </p:cNvSpPr>
          <p:nvPr>
            <p:ph type="title"/>
          </p:nvPr>
        </p:nvSpPr>
        <p:spPr/>
        <p:txBody>
          <a:bodyPr/>
          <a:lstStyle/>
          <a:p>
            <a:r>
              <a:rPr lang="en-US" dirty="0"/>
              <a:t>Agenda for today</a:t>
            </a:r>
          </a:p>
        </p:txBody>
      </p:sp>
      <p:sp>
        <p:nvSpPr>
          <p:cNvPr id="3" name="Espace réservé du contenu 2">
            <a:extLst>
              <a:ext uri="{FF2B5EF4-FFF2-40B4-BE49-F238E27FC236}">
                <a16:creationId xmlns:a16="http://schemas.microsoft.com/office/drawing/2014/main" id="{B178E6D8-CC74-426D-B423-F72CF591AF67}"/>
              </a:ext>
            </a:extLst>
          </p:cNvPr>
          <p:cNvSpPr>
            <a:spLocks noGrp="1"/>
          </p:cNvSpPr>
          <p:nvPr>
            <p:ph idx="1"/>
          </p:nvPr>
        </p:nvSpPr>
        <p:spPr/>
        <p:txBody>
          <a:bodyPr>
            <a:normAutofit/>
          </a:bodyPr>
          <a:lstStyle/>
          <a:p>
            <a:r>
              <a:rPr lang="en-US" sz="2800" dirty="0"/>
              <a:t>Introductions </a:t>
            </a:r>
          </a:p>
          <a:p>
            <a:r>
              <a:rPr lang="en-US" sz="2800" dirty="0"/>
              <a:t>Part I ~ 80 min </a:t>
            </a:r>
          </a:p>
          <a:p>
            <a:r>
              <a:rPr lang="en-US" sz="2800" dirty="0"/>
              <a:t>Q&amp;A</a:t>
            </a:r>
          </a:p>
          <a:p>
            <a:r>
              <a:rPr lang="en-US" sz="2800" dirty="0"/>
              <a:t>Break  </a:t>
            </a:r>
          </a:p>
          <a:p>
            <a:r>
              <a:rPr lang="en-US" sz="2800" dirty="0"/>
              <a:t>Part II ~ 90-120 min </a:t>
            </a:r>
          </a:p>
          <a:p>
            <a:r>
              <a:rPr lang="en-US" sz="2800" dirty="0"/>
              <a:t>Q&amp;A </a:t>
            </a:r>
          </a:p>
          <a:p>
            <a:r>
              <a:rPr lang="en-US" sz="2800" dirty="0"/>
              <a:t>End </a:t>
            </a:r>
          </a:p>
        </p:txBody>
      </p:sp>
    </p:spTree>
    <p:extLst>
      <p:ext uri="{BB962C8B-B14F-4D97-AF65-F5344CB8AC3E}">
        <p14:creationId xmlns:p14="http://schemas.microsoft.com/office/powerpoint/2010/main" val="1470435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Outline – Part 1  	</a:t>
            </a:r>
          </a:p>
        </p:txBody>
      </p:sp>
      <p:sp>
        <p:nvSpPr>
          <p:cNvPr id="3" name="Espace réservé du contenu 2"/>
          <p:cNvSpPr>
            <a:spLocks noGrp="1"/>
          </p:cNvSpPr>
          <p:nvPr>
            <p:ph idx="1"/>
          </p:nvPr>
        </p:nvSpPr>
        <p:spPr>
          <a:xfrm>
            <a:off x="1069848" y="2093976"/>
            <a:ext cx="10058400" cy="4050792"/>
          </a:xfrm>
        </p:spPr>
        <p:txBody>
          <a:bodyPr>
            <a:normAutofit/>
          </a:bodyPr>
          <a:lstStyle/>
          <a:p>
            <a:r>
              <a:rPr lang="en-US" sz="3000" dirty="0"/>
              <a:t>Causal inference, natural experiments and quasi-experimental methods</a:t>
            </a:r>
          </a:p>
          <a:p>
            <a:r>
              <a:rPr lang="en-US" sz="3000" dirty="0"/>
              <a:t>Difference-in-differences methods </a:t>
            </a:r>
          </a:p>
          <a:p>
            <a:r>
              <a:rPr lang="en-US" sz="3000" dirty="0"/>
              <a:t>Interrupted Time Series </a:t>
            </a:r>
          </a:p>
          <a:p>
            <a:r>
              <a:rPr lang="en-US" sz="3000" dirty="0"/>
              <a:t>Synthetic Control Methods </a:t>
            </a:r>
          </a:p>
          <a:p>
            <a:r>
              <a:rPr lang="en-US" sz="3000" dirty="0"/>
              <a:t>More advanced topics </a:t>
            </a:r>
          </a:p>
        </p:txBody>
      </p:sp>
    </p:spTree>
    <p:extLst>
      <p:ext uri="{BB962C8B-B14F-4D97-AF65-F5344CB8AC3E}">
        <p14:creationId xmlns:p14="http://schemas.microsoft.com/office/powerpoint/2010/main" val="557382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CA0845-BAE9-4A10-8010-1442092D4759}"/>
              </a:ext>
            </a:extLst>
          </p:cNvPr>
          <p:cNvSpPr>
            <a:spLocks noGrp="1"/>
          </p:cNvSpPr>
          <p:nvPr>
            <p:ph type="title"/>
          </p:nvPr>
        </p:nvSpPr>
        <p:spPr/>
        <p:txBody>
          <a:bodyPr/>
          <a:lstStyle/>
          <a:p>
            <a:r>
              <a:rPr lang="en-US" dirty="0"/>
              <a:t>Workshop Objectives</a:t>
            </a:r>
          </a:p>
        </p:txBody>
      </p:sp>
      <p:sp>
        <p:nvSpPr>
          <p:cNvPr id="3" name="Espace réservé du contenu 2">
            <a:extLst>
              <a:ext uri="{FF2B5EF4-FFF2-40B4-BE49-F238E27FC236}">
                <a16:creationId xmlns:a16="http://schemas.microsoft.com/office/drawing/2014/main" id="{BE579258-C32D-411B-994A-5B0391A7CEA1}"/>
              </a:ext>
            </a:extLst>
          </p:cNvPr>
          <p:cNvSpPr>
            <a:spLocks noGrp="1"/>
          </p:cNvSpPr>
          <p:nvPr>
            <p:ph idx="1"/>
          </p:nvPr>
        </p:nvSpPr>
        <p:spPr/>
        <p:txBody>
          <a:bodyPr>
            <a:normAutofit/>
          </a:bodyPr>
          <a:lstStyle/>
          <a:p>
            <a:pPr marL="457200" indent="-457200">
              <a:buFont typeface="+mj-lt"/>
              <a:buAutoNum type="arabicPeriod"/>
            </a:pPr>
            <a:r>
              <a:rPr lang="en-US" sz="2400" dirty="0"/>
              <a:t>Understand the conceptual foundations of quasi-experimental methods based on the timing of a natural experiment </a:t>
            </a:r>
          </a:p>
          <a:p>
            <a:pPr marL="457200" indent="-457200">
              <a:buFont typeface="+mj-lt"/>
              <a:buAutoNum type="arabicPeriod"/>
            </a:pPr>
            <a:r>
              <a:rPr lang="en-US" sz="2400" dirty="0"/>
              <a:t>Understanding how Difference-in-Differences (DID), Interrupted Time Series (ITS) and Synthetic Control Methods (SCM) work and their specific identification assumptions. </a:t>
            </a:r>
          </a:p>
          <a:p>
            <a:pPr marL="457200" indent="-457200">
              <a:buFont typeface="+mj-lt"/>
              <a:buAutoNum type="arabicPeriod"/>
            </a:pPr>
            <a:r>
              <a:rPr lang="en-US" sz="2400" dirty="0"/>
              <a:t>Being able to implement (in </a:t>
            </a:r>
            <a:r>
              <a:rPr lang="en-US" sz="2400" i="1" dirty="0"/>
              <a:t>R</a:t>
            </a:r>
            <a:r>
              <a:rPr lang="en-US" sz="2400" dirty="0"/>
              <a:t>) DID, ITS and SCM in different settings, interpret </a:t>
            </a:r>
            <a:r>
              <a:rPr lang="en-US" sz="2400" dirty="0" err="1"/>
              <a:t>estimands</a:t>
            </a:r>
            <a:r>
              <a:rPr lang="en-US" sz="2400" dirty="0"/>
              <a:t> of interest and check/visualize possible assumptions’ violations</a:t>
            </a:r>
          </a:p>
          <a:p>
            <a:pPr marL="457200" indent="-457200">
              <a:buFont typeface="+mj-lt"/>
              <a:buAutoNum type="arabicPeriod"/>
            </a:pPr>
            <a:endParaRPr lang="en-US" sz="2400" dirty="0"/>
          </a:p>
        </p:txBody>
      </p:sp>
    </p:spTree>
    <p:extLst>
      <p:ext uri="{BB962C8B-B14F-4D97-AF65-F5344CB8AC3E}">
        <p14:creationId xmlns:p14="http://schemas.microsoft.com/office/powerpoint/2010/main" val="2481637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Randomization as a solution to deal with confounding </a:t>
            </a:r>
          </a:p>
        </p:txBody>
      </p:sp>
      <p:sp>
        <p:nvSpPr>
          <p:cNvPr id="3" name="Espace réservé du contenu 2"/>
          <p:cNvSpPr>
            <a:spLocks noGrp="1"/>
          </p:cNvSpPr>
          <p:nvPr>
            <p:ph idx="1"/>
          </p:nvPr>
        </p:nvSpPr>
        <p:spPr/>
        <p:txBody>
          <a:bodyPr>
            <a:normAutofit/>
          </a:bodyPr>
          <a:lstStyle/>
          <a:p>
            <a:r>
              <a:rPr lang="en-US" sz="3200" dirty="0"/>
              <a:t>Randomization has been proposed as a solution to deal with confounding</a:t>
            </a:r>
          </a:p>
          <a:p>
            <a:pPr lvl="1"/>
            <a:r>
              <a:rPr lang="en-US" sz="2800" dirty="0"/>
              <a:t>Complying with exchangeability and substitution between exposed and non-exposed to the policy/treatment</a:t>
            </a:r>
          </a:p>
          <a:p>
            <a:pPr lvl="1"/>
            <a:r>
              <a:rPr lang="en-US" sz="2800" dirty="0"/>
              <a:t> For both </a:t>
            </a:r>
            <a:r>
              <a:rPr lang="en-US" sz="2800" b="1" u="sng" dirty="0"/>
              <a:t>measured &amp; unmeasured </a:t>
            </a:r>
            <a:r>
              <a:rPr lang="en-US" sz="2800" dirty="0"/>
              <a:t>confounding </a:t>
            </a:r>
          </a:p>
          <a:p>
            <a:pPr lvl="1"/>
            <a:endParaRPr lang="en-US" sz="2800" dirty="0"/>
          </a:p>
          <a:p>
            <a:endParaRPr lang="en-US" sz="3200" dirty="0"/>
          </a:p>
        </p:txBody>
      </p:sp>
    </p:spTree>
    <p:extLst>
      <p:ext uri="{BB962C8B-B14F-4D97-AF65-F5344CB8AC3E}">
        <p14:creationId xmlns:p14="http://schemas.microsoft.com/office/powerpoint/2010/main" val="3156035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Ideal randomized experiments</a:t>
            </a:r>
          </a:p>
        </p:txBody>
      </p:sp>
      <p:sp>
        <p:nvSpPr>
          <p:cNvPr id="3" name="Content Placeholder 2"/>
          <p:cNvSpPr>
            <a:spLocks noGrp="1"/>
          </p:cNvSpPr>
          <p:nvPr>
            <p:ph idx="1"/>
          </p:nvPr>
        </p:nvSpPr>
        <p:spPr>
          <a:xfrm>
            <a:off x="414852" y="2086778"/>
            <a:ext cx="10058400" cy="4050792"/>
          </a:xfrm>
        </p:spPr>
        <p:txBody>
          <a:bodyPr>
            <a:normAutofit/>
          </a:bodyPr>
          <a:lstStyle/>
          <a:p>
            <a:r>
              <a:rPr lang="en-US" sz="2800" dirty="0"/>
              <a:t>What makes an ideal randomized experiment:</a:t>
            </a:r>
          </a:p>
          <a:p>
            <a:pPr lvl="1"/>
            <a:r>
              <a:rPr lang="en-US" sz="2400" dirty="0"/>
              <a:t>No loss to follow-up,</a:t>
            </a:r>
          </a:p>
          <a:p>
            <a:pPr lvl="1"/>
            <a:r>
              <a:rPr lang="en-US" sz="2400" dirty="0"/>
              <a:t>Full adherence to the assigned treatment over the duration of the study,</a:t>
            </a:r>
          </a:p>
          <a:p>
            <a:pPr lvl="1"/>
            <a:r>
              <a:rPr lang="en-US" sz="2400" dirty="0"/>
              <a:t>A single version of treatment, and double-blind assignment</a:t>
            </a:r>
          </a:p>
          <a:p>
            <a:r>
              <a:rPr lang="en-US" sz="2800" dirty="0"/>
              <a:t>Ideal randomized experiments are unrealistic </a:t>
            </a:r>
            <a:r>
              <a:rPr lang="en-US" sz="2800" b="1" dirty="0"/>
              <a:t>but useful to introduce some key concepts for causal inference</a:t>
            </a:r>
          </a:p>
          <a:p>
            <a:endParaRPr lang="en-US" sz="2400" dirty="0"/>
          </a:p>
        </p:txBody>
      </p:sp>
    </p:spTree>
    <p:extLst>
      <p:ext uri="{BB962C8B-B14F-4D97-AF65-F5344CB8AC3E}">
        <p14:creationId xmlns:p14="http://schemas.microsoft.com/office/powerpoint/2010/main" val="2802469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59601" y="100135"/>
            <a:ext cx="10058400" cy="1609344"/>
          </a:xfrm>
        </p:spPr>
        <p:txBody>
          <a:bodyPr/>
          <a:lstStyle/>
          <a:p>
            <a:r>
              <a:rPr lang="en-US" dirty="0"/>
              <a:t>The idea behind randomization</a:t>
            </a:r>
          </a:p>
        </p:txBody>
      </p:sp>
      <p:sp>
        <p:nvSpPr>
          <p:cNvPr id="3" name="Espace réservé du contenu 2"/>
          <p:cNvSpPr>
            <a:spLocks noGrp="1"/>
          </p:cNvSpPr>
          <p:nvPr>
            <p:ph idx="1"/>
          </p:nvPr>
        </p:nvSpPr>
        <p:spPr>
          <a:xfrm>
            <a:off x="1059043" y="1558201"/>
            <a:ext cx="10058400" cy="4050792"/>
          </a:xfrm>
        </p:spPr>
        <p:txBody>
          <a:bodyPr>
            <a:noAutofit/>
          </a:bodyPr>
          <a:lstStyle/>
          <a:p>
            <a:r>
              <a:rPr lang="en-US" sz="2400" dirty="0"/>
              <a:t>How do RCT work …</a:t>
            </a:r>
          </a:p>
          <a:p>
            <a:r>
              <a:rPr lang="en-US" sz="2400" dirty="0"/>
              <a:t>Randomization can be analyzed as an “</a:t>
            </a:r>
            <a:r>
              <a:rPr lang="en-US" sz="2400" b="1" dirty="0"/>
              <a:t>Instrumental Variable”</a:t>
            </a:r>
          </a:p>
          <a:p>
            <a:r>
              <a:rPr lang="en-US" sz="2400" dirty="0"/>
              <a:t>The overall aim is to deal with measured and unmeasured confounding in observational studies by using an instrumental variable  </a:t>
            </a:r>
          </a:p>
          <a:p>
            <a:endParaRPr lang="en-US" sz="2400" dirty="0"/>
          </a:p>
          <a:p>
            <a:endParaRPr lang="en-US" sz="2400" dirty="0"/>
          </a:p>
          <a:p>
            <a:endParaRPr lang="en-US" sz="2400" dirty="0"/>
          </a:p>
          <a:p>
            <a:endParaRPr lang="en-US" sz="2400" b="1" dirty="0"/>
          </a:p>
          <a:p>
            <a:r>
              <a:rPr lang="en-US" sz="2400" b="1" dirty="0"/>
              <a:t>The problem: </a:t>
            </a:r>
            <a:r>
              <a:rPr lang="en-US" sz="2400" dirty="0"/>
              <a:t>in many cases RCT are not feasible due costs, scale or ethical objections</a:t>
            </a:r>
          </a:p>
          <a:p>
            <a:r>
              <a:rPr lang="en-US" sz="2400" dirty="0"/>
              <a:t>Or because it is simply too late ..</a:t>
            </a:r>
          </a:p>
        </p:txBody>
      </p:sp>
      <p:grpSp>
        <p:nvGrpSpPr>
          <p:cNvPr id="4" name="Groupe 3"/>
          <p:cNvGrpSpPr/>
          <p:nvPr/>
        </p:nvGrpSpPr>
        <p:grpSpPr>
          <a:xfrm>
            <a:off x="2542870" y="3633272"/>
            <a:ext cx="5453866" cy="1510893"/>
            <a:chOff x="2537718" y="2093976"/>
            <a:chExt cx="5453866" cy="1510893"/>
          </a:xfrm>
        </p:grpSpPr>
        <p:sp>
          <p:nvSpPr>
            <p:cNvPr id="5" name="ZoneTexte 4"/>
            <p:cNvSpPr txBox="1"/>
            <p:nvPr/>
          </p:nvSpPr>
          <p:spPr>
            <a:xfrm>
              <a:off x="4520630" y="3081649"/>
              <a:ext cx="503434" cy="523220"/>
            </a:xfrm>
            <a:prstGeom prst="rect">
              <a:avLst/>
            </a:prstGeom>
            <a:noFill/>
          </p:spPr>
          <p:txBody>
            <a:bodyPr wrap="square" rtlCol="0">
              <a:spAutoFit/>
            </a:bodyPr>
            <a:lstStyle/>
            <a:p>
              <a:r>
                <a:rPr lang="en-US" sz="2800" b="1" dirty="0"/>
                <a:t>X</a:t>
              </a:r>
            </a:p>
          </p:txBody>
        </p:sp>
        <p:sp>
          <p:nvSpPr>
            <p:cNvPr id="6" name="ZoneTexte 5"/>
            <p:cNvSpPr txBox="1"/>
            <p:nvPr/>
          </p:nvSpPr>
          <p:spPr>
            <a:xfrm>
              <a:off x="7488150" y="3081649"/>
              <a:ext cx="503434" cy="523220"/>
            </a:xfrm>
            <a:prstGeom prst="rect">
              <a:avLst/>
            </a:prstGeom>
            <a:noFill/>
          </p:spPr>
          <p:txBody>
            <a:bodyPr wrap="square" rtlCol="0">
              <a:spAutoFit/>
            </a:bodyPr>
            <a:lstStyle/>
            <a:p>
              <a:r>
                <a:rPr lang="en-US" sz="2800" b="1" dirty="0"/>
                <a:t>Y</a:t>
              </a:r>
            </a:p>
          </p:txBody>
        </p:sp>
        <p:sp>
          <p:nvSpPr>
            <p:cNvPr id="7" name="ZoneTexte 6"/>
            <p:cNvSpPr txBox="1"/>
            <p:nvPr/>
          </p:nvSpPr>
          <p:spPr>
            <a:xfrm>
              <a:off x="3154165" y="2093976"/>
              <a:ext cx="1869899" cy="523220"/>
            </a:xfrm>
            <a:prstGeom prst="rect">
              <a:avLst/>
            </a:prstGeom>
            <a:noFill/>
            <a:ln>
              <a:noFill/>
            </a:ln>
          </p:spPr>
          <p:txBody>
            <a:bodyPr wrap="square" rtlCol="0">
              <a:spAutoFit/>
            </a:bodyPr>
            <a:lstStyle/>
            <a:p>
              <a:pPr algn="ctr"/>
              <a:r>
                <a:rPr lang="en-US" sz="2800" b="1" dirty="0"/>
                <a:t>C and U</a:t>
              </a:r>
            </a:p>
          </p:txBody>
        </p:sp>
        <p:cxnSp>
          <p:nvCxnSpPr>
            <p:cNvPr id="8" name="Connecteur droit avec flèche 7"/>
            <p:cNvCxnSpPr>
              <a:stCxn id="5" idx="3"/>
              <a:endCxn id="6" idx="1"/>
            </p:cNvCxnSpPr>
            <p:nvPr/>
          </p:nvCxnSpPr>
          <p:spPr>
            <a:xfrm>
              <a:off x="5024064" y="3343259"/>
              <a:ext cx="24640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Connecteur droit avec flèche 8"/>
            <p:cNvCxnSpPr>
              <a:stCxn id="7" idx="2"/>
            </p:cNvCxnSpPr>
            <p:nvPr/>
          </p:nvCxnSpPr>
          <p:spPr>
            <a:xfrm>
              <a:off x="4089115" y="2617196"/>
              <a:ext cx="523981" cy="4644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Arc 9"/>
            <p:cNvSpPr/>
            <p:nvPr/>
          </p:nvSpPr>
          <p:spPr>
            <a:xfrm>
              <a:off x="2537718" y="2355586"/>
              <a:ext cx="4972692" cy="1249283"/>
            </a:xfrm>
            <a:prstGeom prst="arc">
              <a:avLst/>
            </a:prstGeom>
            <a:ln>
              <a:tailEnd type="triangle"/>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1" name="ZoneTexte 10"/>
            <p:cNvSpPr txBox="1"/>
            <p:nvPr/>
          </p:nvSpPr>
          <p:spPr>
            <a:xfrm>
              <a:off x="2636178" y="3081649"/>
              <a:ext cx="629926" cy="523220"/>
            </a:xfrm>
            <a:prstGeom prst="rect">
              <a:avLst/>
            </a:prstGeom>
            <a:noFill/>
          </p:spPr>
          <p:txBody>
            <a:bodyPr wrap="square" rtlCol="0">
              <a:spAutoFit/>
            </a:bodyPr>
            <a:lstStyle/>
            <a:p>
              <a:r>
                <a:rPr lang="en-US" sz="2800" b="1" dirty="0"/>
                <a:t>IV</a:t>
              </a:r>
            </a:p>
          </p:txBody>
        </p:sp>
        <p:cxnSp>
          <p:nvCxnSpPr>
            <p:cNvPr id="12" name="Connecteur droit avec flèche 11"/>
            <p:cNvCxnSpPr>
              <a:stCxn id="11" idx="3"/>
            </p:cNvCxnSpPr>
            <p:nvPr/>
          </p:nvCxnSpPr>
          <p:spPr>
            <a:xfrm flipV="1">
              <a:off x="3266104" y="3340217"/>
              <a:ext cx="1232900" cy="30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534781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6317"/>
            <a:ext cx="10058400" cy="1609344"/>
          </a:xfrm>
        </p:spPr>
        <p:txBody>
          <a:bodyPr/>
          <a:lstStyle/>
          <a:p>
            <a:r>
              <a:rPr lang="en-US" dirty="0"/>
              <a:t>Different types of RCTs</a:t>
            </a:r>
          </a:p>
        </p:txBody>
      </p:sp>
      <p:sp>
        <p:nvSpPr>
          <p:cNvPr id="3" name="Content Placeholder 2"/>
          <p:cNvSpPr>
            <a:spLocks noGrp="1"/>
          </p:cNvSpPr>
          <p:nvPr>
            <p:ph idx="1"/>
          </p:nvPr>
        </p:nvSpPr>
        <p:spPr>
          <a:xfrm>
            <a:off x="213814" y="1968805"/>
            <a:ext cx="10058400" cy="4050792"/>
          </a:xfrm>
        </p:spPr>
        <p:txBody>
          <a:bodyPr>
            <a:normAutofit/>
          </a:bodyPr>
          <a:lstStyle/>
          <a:p>
            <a:r>
              <a:rPr lang="en-US" sz="2800" dirty="0"/>
              <a:t>Two-arm, parallel design</a:t>
            </a:r>
          </a:p>
          <a:p>
            <a:r>
              <a:rPr lang="en-US" sz="2800" dirty="0"/>
              <a:t>Planned cross-over design</a:t>
            </a:r>
          </a:p>
          <a:p>
            <a:r>
              <a:rPr lang="en-US" sz="2800" dirty="0"/>
              <a:t>Factorial design</a:t>
            </a:r>
          </a:p>
          <a:p>
            <a:r>
              <a:rPr lang="en-US" sz="2800" dirty="0"/>
              <a:t>Cluster randomized trials</a:t>
            </a:r>
          </a:p>
          <a:p>
            <a:r>
              <a:rPr lang="en-US" sz="2800" b="1" dirty="0"/>
              <a:t>Stepped Wedge Designs</a:t>
            </a:r>
          </a:p>
          <a:p>
            <a:pPr lvl="1"/>
            <a:r>
              <a:rPr lang="en-US" sz="2600" b="1" dirty="0"/>
              <a:t>Based on the timing of the intervention </a:t>
            </a:r>
          </a:p>
        </p:txBody>
      </p:sp>
      <p:sp>
        <p:nvSpPr>
          <p:cNvPr id="6" name="Text Box 4"/>
          <p:cNvSpPr txBox="1">
            <a:spLocks noChangeArrowheads="1"/>
          </p:cNvSpPr>
          <p:nvPr/>
        </p:nvSpPr>
        <p:spPr bwMode="auto">
          <a:xfrm>
            <a:off x="0" y="6611779"/>
            <a:ext cx="5192447"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charset="0"/>
                <a:ea typeface="ＭＳ Ｐゴシック" charset="0"/>
              </a:defRPr>
            </a:lvl1pPr>
            <a:lvl2pPr marL="742950" indent="-285750">
              <a:defRPr>
                <a:solidFill>
                  <a:schemeClr val="tx1"/>
                </a:solidFill>
                <a:latin typeface="Verdana" charset="0"/>
                <a:ea typeface="ＭＳ Ｐゴシック" charset="0"/>
              </a:defRPr>
            </a:lvl2pPr>
            <a:lvl3pPr marL="1143000" indent="-228600">
              <a:defRPr>
                <a:solidFill>
                  <a:schemeClr val="tx1"/>
                </a:solidFill>
                <a:latin typeface="Verdana" charset="0"/>
                <a:ea typeface="ＭＳ Ｐゴシック" charset="0"/>
              </a:defRPr>
            </a:lvl3pPr>
            <a:lvl4pPr marL="1600200" indent="-228600">
              <a:defRPr>
                <a:solidFill>
                  <a:schemeClr val="tx1"/>
                </a:solidFill>
                <a:latin typeface="Verdana" charset="0"/>
                <a:ea typeface="ＭＳ Ｐゴシック" charset="0"/>
              </a:defRPr>
            </a:lvl4pPr>
            <a:lvl5pPr marL="2057400" indent="-228600">
              <a:defRPr>
                <a:solidFill>
                  <a:schemeClr val="tx1"/>
                </a:solidFill>
                <a:latin typeface="Verdana" charset="0"/>
                <a:ea typeface="ＭＳ Ｐゴシック" charset="0"/>
              </a:defRPr>
            </a:lvl5pPr>
            <a:lvl6pPr marL="2514600" indent="-228600" eaLnBrk="0" fontAlgn="base" hangingPunct="0">
              <a:spcBef>
                <a:spcPct val="0"/>
              </a:spcBef>
              <a:spcAft>
                <a:spcPct val="0"/>
              </a:spcAft>
              <a:defRPr>
                <a:solidFill>
                  <a:schemeClr val="tx1"/>
                </a:solidFill>
                <a:latin typeface="Verdana" charset="0"/>
                <a:ea typeface="ＭＳ Ｐゴシック" charset="0"/>
              </a:defRPr>
            </a:lvl6pPr>
            <a:lvl7pPr marL="2971800" indent="-228600" eaLnBrk="0" fontAlgn="base" hangingPunct="0">
              <a:spcBef>
                <a:spcPct val="0"/>
              </a:spcBef>
              <a:spcAft>
                <a:spcPct val="0"/>
              </a:spcAft>
              <a:defRPr>
                <a:solidFill>
                  <a:schemeClr val="tx1"/>
                </a:solidFill>
                <a:latin typeface="Verdana" charset="0"/>
                <a:ea typeface="ＭＳ Ｐゴシック" charset="0"/>
              </a:defRPr>
            </a:lvl7pPr>
            <a:lvl8pPr marL="3429000" indent="-228600" eaLnBrk="0" fontAlgn="base" hangingPunct="0">
              <a:spcBef>
                <a:spcPct val="0"/>
              </a:spcBef>
              <a:spcAft>
                <a:spcPct val="0"/>
              </a:spcAft>
              <a:defRPr>
                <a:solidFill>
                  <a:schemeClr val="tx1"/>
                </a:solidFill>
                <a:latin typeface="Verdana" charset="0"/>
                <a:ea typeface="ＭＳ Ｐゴシック" charset="0"/>
              </a:defRPr>
            </a:lvl8pPr>
            <a:lvl9pPr marL="3886200" indent="-228600" eaLnBrk="0" fontAlgn="base" hangingPunct="0">
              <a:spcBef>
                <a:spcPct val="0"/>
              </a:spcBef>
              <a:spcAft>
                <a:spcPct val="0"/>
              </a:spcAft>
              <a:defRPr>
                <a:solidFill>
                  <a:schemeClr val="tx1"/>
                </a:solidFill>
                <a:latin typeface="Verdana" charset="0"/>
                <a:ea typeface="ＭＳ Ｐゴシック" charset="0"/>
              </a:defRPr>
            </a:lvl9pPr>
          </a:lstStyle>
          <a:p>
            <a:r>
              <a:rPr lang="en-US" sz="1000" dirty="0" err="1">
                <a:latin typeface="Arial" charset="0"/>
              </a:rPr>
              <a:t>Hulley</a:t>
            </a:r>
            <a:r>
              <a:rPr lang="en-US" sz="1000" dirty="0">
                <a:latin typeface="Arial" charset="0"/>
              </a:rPr>
              <a:t> et al. Designing Clinical Research. 2</a:t>
            </a:r>
            <a:r>
              <a:rPr lang="en-US" sz="1000" baseline="30000" dirty="0">
                <a:latin typeface="Arial" charset="0"/>
              </a:rPr>
              <a:t>nd</a:t>
            </a:r>
            <a:r>
              <a:rPr lang="en-US" sz="1000" dirty="0">
                <a:latin typeface="Arial" charset="0"/>
              </a:rPr>
              <a:t> Edition. Lippincott Williams &amp; Wilkins, 2001</a:t>
            </a:r>
          </a:p>
        </p:txBody>
      </p:sp>
      <p:pic>
        <p:nvPicPr>
          <p:cNvPr id="1026" name="Picture 2" descr="The stepped wedge cluster randomised trial: rationale, design ...">
            <a:extLst>
              <a:ext uri="{FF2B5EF4-FFF2-40B4-BE49-F238E27FC236}">
                <a16:creationId xmlns:a16="http://schemas.microsoft.com/office/drawing/2014/main" id="{0A5A96AE-C907-4D4A-8070-75EE0D81E54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41529" y="751909"/>
            <a:ext cx="4766425" cy="355629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EE4D0B8D-36EA-4224-9EBB-D2300A23552D}"/>
              </a:ext>
            </a:extLst>
          </p:cNvPr>
          <p:cNvSpPr/>
          <p:nvPr/>
        </p:nvSpPr>
        <p:spPr>
          <a:xfrm>
            <a:off x="8386916" y="4481349"/>
            <a:ext cx="3805084" cy="646331"/>
          </a:xfrm>
          <a:prstGeom prst="rect">
            <a:avLst/>
          </a:prstGeom>
        </p:spPr>
        <p:txBody>
          <a:bodyPr wrap="square">
            <a:spAutoFit/>
          </a:bodyPr>
          <a:lstStyle/>
          <a:p>
            <a:r>
              <a:rPr lang="en-US" sz="1200" dirty="0"/>
              <a:t>Hemming, Karla, et al. "The stepped wedge cluster </a:t>
            </a:r>
            <a:r>
              <a:rPr lang="en-US" sz="1200" dirty="0" err="1"/>
              <a:t>randomised</a:t>
            </a:r>
            <a:r>
              <a:rPr lang="en-US" sz="1200" dirty="0"/>
              <a:t> trial: rationale, design, analysis, and reporting." </a:t>
            </a:r>
            <a:r>
              <a:rPr lang="en-US" sz="1200" dirty="0" err="1"/>
              <a:t>Bmj</a:t>
            </a:r>
            <a:r>
              <a:rPr lang="en-US" sz="1200" dirty="0"/>
              <a:t> 350 (2015): h391.</a:t>
            </a:r>
          </a:p>
        </p:txBody>
      </p:sp>
    </p:spTree>
    <p:extLst>
      <p:ext uri="{BB962C8B-B14F-4D97-AF65-F5344CB8AC3E}">
        <p14:creationId xmlns:p14="http://schemas.microsoft.com/office/powerpoint/2010/main" val="1559010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71898" y="144763"/>
            <a:ext cx="10058400" cy="1609344"/>
          </a:xfrm>
        </p:spPr>
        <p:txBody>
          <a:bodyPr>
            <a:normAutofit/>
          </a:bodyPr>
          <a:lstStyle/>
          <a:p>
            <a:r>
              <a:rPr lang="en-US" dirty="0"/>
              <a:t>Using Natural experiments</a:t>
            </a:r>
          </a:p>
        </p:txBody>
      </p:sp>
      <p:sp>
        <p:nvSpPr>
          <p:cNvPr id="3" name="Espace réservé du contenu 2"/>
          <p:cNvSpPr>
            <a:spLocks noGrp="1"/>
          </p:cNvSpPr>
          <p:nvPr>
            <p:ph idx="1"/>
          </p:nvPr>
        </p:nvSpPr>
        <p:spPr>
          <a:xfrm>
            <a:off x="462616" y="1443051"/>
            <a:ext cx="10058400" cy="4951025"/>
          </a:xfrm>
        </p:spPr>
        <p:txBody>
          <a:bodyPr>
            <a:noAutofit/>
          </a:bodyPr>
          <a:lstStyle/>
          <a:p>
            <a:r>
              <a:rPr lang="en-US" sz="2800" dirty="0"/>
              <a:t>By capitalizing on natural experiments, Quasi-experimental methods (QEM) can be used as alternatives to experimental methods to provide causal estimates from observational studies. </a:t>
            </a:r>
          </a:p>
          <a:p>
            <a:r>
              <a:rPr lang="en-US" sz="2800" dirty="0"/>
              <a:t>The term quasi-experiment refers to </a:t>
            </a:r>
          </a:p>
          <a:p>
            <a:pPr lvl="1"/>
            <a:r>
              <a:rPr lang="en-US" sz="2600" dirty="0"/>
              <a:t>“</a:t>
            </a:r>
            <a:r>
              <a:rPr lang="en-US" sz="2600" i="1" dirty="0"/>
              <a:t>experiments that have treatments, outcome measures, and experimental units, but do not use random assignment to create the comparisons from which treatment-caused change is inferred</a:t>
            </a:r>
            <a:r>
              <a:rPr lang="en-US" sz="2600" dirty="0"/>
              <a:t>” (Cook et al. 1979)</a:t>
            </a:r>
          </a:p>
          <a:p>
            <a:r>
              <a:rPr lang="en-US" sz="2800" dirty="0"/>
              <a:t>Different QEM, different configurations, different assumptions to draw causal inference </a:t>
            </a:r>
          </a:p>
          <a:p>
            <a:r>
              <a:rPr lang="en-US" sz="2800" dirty="0"/>
              <a:t>To deal with </a:t>
            </a:r>
            <a:r>
              <a:rPr lang="en-US" sz="2800" u="sng" dirty="0"/>
              <a:t>both measured and unmeasured confounding </a:t>
            </a:r>
          </a:p>
        </p:txBody>
      </p:sp>
    </p:spTree>
    <p:extLst>
      <p:ext uri="{BB962C8B-B14F-4D97-AF65-F5344CB8AC3E}">
        <p14:creationId xmlns:p14="http://schemas.microsoft.com/office/powerpoint/2010/main" val="132888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natural experiments</a:t>
            </a:r>
            <a:br>
              <a:rPr lang="en-US" dirty="0"/>
            </a:br>
            <a:r>
              <a:rPr lang="en-US" sz="4000" dirty="0"/>
              <a:t>not only for policy evaluation</a:t>
            </a:r>
            <a:endParaRPr lang="en-US" dirty="0"/>
          </a:p>
        </p:txBody>
      </p:sp>
      <p:sp>
        <p:nvSpPr>
          <p:cNvPr id="3" name="Content Placeholder 2"/>
          <p:cNvSpPr>
            <a:spLocks noGrp="1"/>
          </p:cNvSpPr>
          <p:nvPr>
            <p:ph idx="1"/>
          </p:nvPr>
        </p:nvSpPr>
        <p:spPr>
          <a:xfrm>
            <a:off x="1069848" y="2121408"/>
            <a:ext cx="5911977" cy="4050792"/>
          </a:xfrm>
        </p:spPr>
        <p:txBody>
          <a:bodyPr>
            <a:normAutofit/>
          </a:bodyPr>
          <a:lstStyle/>
          <a:p>
            <a:r>
              <a:rPr lang="en-US" sz="2800" dirty="0"/>
              <a:t>Public policies: </a:t>
            </a:r>
          </a:p>
          <a:p>
            <a:pPr lvl="1"/>
            <a:r>
              <a:rPr lang="en-US" sz="2600" dirty="0"/>
              <a:t>Smoking ban  </a:t>
            </a:r>
          </a:p>
          <a:p>
            <a:pPr lvl="1"/>
            <a:r>
              <a:rPr lang="en-US" sz="2600" dirty="0"/>
              <a:t>Legalization of marijuana</a:t>
            </a:r>
          </a:p>
          <a:p>
            <a:r>
              <a:rPr lang="en-US" sz="2800" dirty="0"/>
              <a:t>Conditional Cash Transfers </a:t>
            </a:r>
          </a:p>
          <a:p>
            <a:r>
              <a:rPr lang="en-US" sz="2800" dirty="0"/>
              <a:t>Natural Hazards </a:t>
            </a:r>
          </a:p>
          <a:p>
            <a:pPr lvl="1"/>
            <a:r>
              <a:rPr lang="en-US" sz="2600" dirty="0"/>
              <a:t>Earthquakes </a:t>
            </a:r>
          </a:p>
          <a:p>
            <a:pPr lvl="1"/>
            <a:r>
              <a:rPr lang="en-US" sz="2600" dirty="0"/>
              <a:t>Wildfires </a:t>
            </a:r>
          </a:p>
        </p:txBody>
      </p:sp>
      <p:sp>
        <p:nvSpPr>
          <p:cNvPr id="5" name="ZoneTexte 4">
            <a:extLst>
              <a:ext uri="{FF2B5EF4-FFF2-40B4-BE49-F238E27FC236}">
                <a16:creationId xmlns:a16="http://schemas.microsoft.com/office/drawing/2014/main" id="{092CC39E-FCCF-4766-9DCA-27AEEFDB9BAF}"/>
              </a:ext>
            </a:extLst>
          </p:cNvPr>
          <p:cNvSpPr txBox="1"/>
          <p:nvPr/>
        </p:nvSpPr>
        <p:spPr>
          <a:xfrm>
            <a:off x="6810375" y="3020950"/>
            <a:ext cx="4972050" cy="1938992"/>
          </a:xfrm>
          <a:prstGeom prst="rect">
            <a:avLst/>
          </a:prstGeom>
          <a:noFill/>
          <a:ln>
            <a:solidFill>
              <a:schemeClr val="tx1"/>
            </a:solidFill>
          </a:ln>
        </p:spPr>
        <p:txBody>
          <a:bodyPr wrap="square">
            <a:spAutoFit/>
          </a:bodyPr>
          <a:lstStyle/>
          <a:p>
            <a:r>
              <a:rPr lang="en-US" sz="2000" dirty="0"/>
              <a:t>2 main types of natural experiments</a:t>
            </a:r>
          </a:p>
          <a:p>
            <a:pPr marL="285750" indent="-285750">
              <a:buFont typeface="Arial" panose="020B0604020202020204" pitchFamily="34" charset="0"/>
              <a:buChar char="•"/>
            </a:pPr>
            <a:r>
              <a:rPr lang="en-US" sz="2000" b="1" u="sng" dirty="0"/>
              <a:t>Timing of the intervention </a:t>
            </a:r>
          </a:p>
          <a:p>
            <a:pPr marL="285750" indent="-285750">
              <a:buFont typeface="Arial" panose="020B0604020202020204" pitchFamily="34" charset="0"/>
              <a:buChar char="•"/>
            </a:pPr>
            <a:r>
              <a:rPr lang="en-US" sz="2000" dirty="0"/>
              <a:t>Eligibility to a specific policy (e.g. age for vaccination) and other IV strategies</a:t>
            </a:r>
          </a:p>
          <a:p>
            <a:pPr marL="285750" indent="-285750">
              <a:buFont typeface="Arial" panose="020B0604020202020204" pitchFamily="34" charset="0"/>
              <a:buChar char="•"/>
            </a:pPr>
            <a:endParaRPr lang="en-US" sz="2000" dirty="0"/>
          </a:p>
        </p:txBody>
      </p:sp>
    </p:spTree>
    <p:extLst>
      <p:ext uri="{BB962C8B-B14F-4D97-AF65-F5344CB8AC3E}">
        <p14:creationId xmlns:p14="http://schemas.microsoft.com/office/powerpoint/2010/main" val="4018157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39025" y="2529189"/>
            <a:ext cx="10058400" cy="1609344"/>
          </a:xfrm>
        </p:spPr>
        <p:txBody>
          <a:bodyPr/>
          <a:lstStyle/>
          <a:p>
            <a:pPr algn="ctr"/>
            <a:r>
              <a:rPr lang="en-US" dirty="0"/>
              <a:t>Difference-in-differences</a:t>
            </a:r>
          </a:p>
        </p:txBody>
      </p:sp>
    </p:spTree>
    <p:extLst>
      <p:ext uri="{BB962C8B-B14F-4D97-AF65-F5344CB8AC3E}">
        <p14:creationId xmlns:p14="http://schemas.microsoft.com/office/powerpoint/2010/main" val="20398407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740253" y="596909"/>
            <a:ext cx="9613861" cy="108093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US" sz="4400" dirty="0"/>
              <a:t>The difference-in-differences idea</a:t>
            </a:r>
            <a:endParaRPr lang="en-CA" sz="4400" dirty="0"/>
          </a:p>
        </p:txBody>
      </p:sp>
      <p:sp>
        <p:nvSpPr>
          <p:cNvPr id="2" name="ZoneTexte 1">
            <a:extLst>
              <a:ext uri="{FF2B5EF4-FFF2-40B4-BE49-F238E27FC236}">
                <a16:creationId xmlns:a16="http://schemas.microsoft.com/office/drawing/2014/main" id="{956092E8-B3FD-4898-A4A4-D7DE867B0B79}"/>
              </a:ext>
            </a:extLst>
          </p:cNvPr>
          <p:cNvSpPr txBox="1"/>
          <p:nvPr/>
        </p:nvSpPr>
        <p:spPr>
          <a:xfrm>
            <a:off x="7690615" y="5810106"/>
            <a:ext cx="4501385" cy="369332"/>
          </a:xfrm>
          <a:prstGeom prst="rect">
            <a:avLst/>
          </a:prstGeom>
          <a:noFill/>
        </p:spPr>
        <p:txBody>
          <a:bodyPr wrap="square" rtlCol="0">
            <a:spAutoFit/>
          </a:bodyPr>
          <a:lstStyle/>
          <a:p>
            <a:r>
              <a:rPr lang="en-US" dirty="0"/>
              <a:t>By Bret </a:t>
            </a:r>
            <a:r>
              <a:rPr lang="en-US" dirty="0" err="1"/>
              <a:t>Zeldow</a:t>
            </a:r>
            <a:r>
              <a:rPr lang="en-US" dirty="0"/>
              <a:t> and Laura Hatfield</a:t>
            </a:r>
          </a:p>
        </p:txBody>
      </p:sp>
      <p:pic>
        <p:nvPicPr>
          <p:cNvPr id="3074" name="Picture 2">
            <a:extLst>
              <a:ext uri="{FF2B5EF4-FFF2-40B4-BE49-F238E27FC236}">
                <a16:creationId xmlns:a16="http://schemas.microsoft.com/office/drawing/2014/main" id="{6570F3D9-EACF-4D49-8001-E30279D1D582}"/>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7218667" y="1677847"/>
            <a:ext cx="4737359" cy="405586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a:extLst>
              <a:ext uri="{FF2B5EF4-FFF2-40B4-BE49-F238E27FC236}">
                <a16:creationId xmlns:a16="http://schemas.microsoft.com/office/drawing/2014/main" id="{EF261746-0549-4047-B79C-840C27663154}"/>
              </a:ext>
            </a:extLst>
          </p:cNvPr>
          <p:cNvPicPr/>
          <p:nvPr/>
        </p:nvPicPr>
        <p:blipFill>
          <a:blip r:embed="rId4"/>
          <a:stretch>
            <a:fillRect/>
          </a:stretch>
        </p:blipFill>
        <p:spPr bwMode="auto">
          <a:xfrm>
            <a:off x="391903" y="1677846"/>
            <a:ext cx="5769200" cy="4501591"/>
          </a:xfrm>
          <a:prstGeom prst="rect">
            <a:avLst/>
          </a:prstGeom>
          <a:noFill/>
          <a:ln w="9525">
            <a:noFill/>
            <a:headEnd/>
            <a:tailEnd/>
          </a:ln>
        </p:spPr>
      </p:pic>
      <p:sp>
        <p:nvSpPr>
          <p:cNvPr id="7" name="ZoneTexte 6">
            <a:extLst>
              <a:ext uri="{FF2B5EF4-FFF2-40B4-BE49-F238E27FC236}">
                <a16:creationId xmlns:a16="http://schemas.microsoft.com/office/drawing/2014/main" id="{8219E242-E5C9-4767-BB6D-50A5EA1D5B89}"/>
              </a:ext>
            </a:extLst>
          </p:cNvPr>
          <p:cNvSpPr txBox="1"/>
          <p:nvPr/>
        </p:nvSpPr>
        <p:spPr>
          <a:xfrm>
            <a:off x="740253" y="6362589"/>
            <a:ext cx="4811697" cy="307777"/>
          </a:xfrm>
          <a:prstGeom prst="rect">
            <a:avLst/>
          </a:prstGeom>
          <a:noFill/>
        </p:spPr>
        <p:txBody>
          <a:bodyPr wrap="square" rtlCol="0">
            <a:spAutoFit/>
          </a:bodyPr>
          <a:lstStyle/>
          <a:p>
            <a:r>
              <a:rPr lang="en-US" sz="1400" i="1" dirty="0" err="1"/>
              <a:t>Nianogo</a:t>
            </a:r>
            <a:r>
              <a:rPr lang="en-US" sz="1400" i="1" dirty="0"/>
              <a:t>, Benmarhnia and O’Neill [In preparation]</a:t>
            </a:r>
          </a:p>
        </p:txBody>
      </p:sp>
    </p:spTree>
    <p:extLst>
      <p:ext uri="{BB962C8B-B14F-4D97-AF65-F5344CB8AC3E}">
        <p14:creationId xmlns:p14="http://schemas.microsoft.com/office/powerpoint/2010/main" val="3178383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Difference-in-differences</a:t>
            </a:r>
            <a:br>
              <a:rPr lang="en-US" dirty="0"/>
            </a:br>
            <a:r>
              <a:rPr lang="en-US" sz="4000" dirty="0"/>
              <a:t>The standard approach</a:t>
            </a:r>
            <a:endParaRPr lang="en-CA" sz="4000" dirty="0"/>
          </a:p>
        </p:txBody>
      </p:sp>
      <p:sp>
        <p:nvSpPr>
          <p:cNvPr id="3" name="Content Placeholder 2"/>
          <p:cNvSpPr>
            <a:spLocks noGrp="1"/>
          </p:cNvSpPr>
          <p:nvPr>
            <p:ph idx="1"/>
          </p:nvPr>
        </p:nvSpPr>
        <p:spPr>
          <a:xfrm>
            <a:off x="1069847" y="2121408"/>
            <a:ext cx="10735159" cy="4412956"/>
          </a:xfrm>
        </p:spPr>
        <p:txBody>
          <a:bodyPr>
            <a:normAutofit lnSpcReduction="10000"/>
          </a:bodyPr>
          <a:lstStyle/>
          <a:p>
            <a:r>
              <a:rPr lang="en-US" sz="2400" dirty="0"/>
              <a:t>To estimate a causal effect</a:t>
            </a:r>
          </a:p>
          <a:p>
            <a:endParaRPr lang="en-US" dirty="0"/>
          </a:p>
          <a:p>
            <a:endParaRPr lang="en-US" dirty="0"/>
          </a:p>
          <a:p>
            <a:endParaRPr lang="en-US" dirty="0"/>
          </a:p>
          <a:p>
            <a:endParaRPr lang="en-US" dirty="0"/>
          </a:p>
          <a:p>
            <a:r>
              <a:rPr lang="en-US" sz="2800" dirty="0"/>
              <a:t>Simple Regression modeling approach (with 2 groups)</a:t>
            </a:r>
          </a:p>
          <a:p>
            <a:pPr lvl="1"/>
            <a:r>
              <a:rPr lang="es-CL" sz="2400" dirty="0"/>
              <a:t>E[Y | a, </a:t>
            </a:r>
            <a:r>
              <a:rPr lang="es-CL" sz="2400" dirty="0" err="1"/>
              <a:t>t,did</a:t>
            </a:r>
            <a:r>
              <a:rPr lang="es-CL" sz="2400" dirty="0"/>
              <a:t>] = β</a:t>
            </a:r>
            <a:r>
              <a:rPr lang="es-CL" sz="2400" baseline="-25000" dirty="0"/>
              <a:t>0</a:t>
            </a:r>
            <a:r>
              <a:rPr lang="es-CL" sz="2400" dirty="0"/>
              <a:t> + β</a:t>
            </a:r>
            <a:r>
              <a:rPr lang="es-CL" sz="2400" baseline="-25000" dirty="0"/>
              <a:t>1</a:t>
            </a:r>
            <a:r>
              <a:rPr lang="es-CL" sz="2400" dirty="0"/>
              <a:t>a + β</a:t>
            </a:r>
            <a:r>
              <a:rPr lang="es-CL" sz="2400" baseline="-25000" dirty="0"/>
              <a:t>2</a:t>
            </a:r>
            <a:r>
              <a:rPr lang="es-CL" sz="2400" dirty="0"/>
              <a:t>t</a:t>
            </a:r>
            <a:r>
              <a:rPr lang="fr-FR" sz="2400" dirty="0"/>
              <a:t> </a:t>
            </a:r>
            <a:r>
              <a:rPr lang="es-CL" sz="2400" dirty="0"/>
              <a:t>+ β</a:t>
            </a:r>
            <a:r>
              <a:rPr lang="es-CL" sz="2400" baseline="-25000" dirty="0"/>
              <a:t>3</a:t>
            </a:r>
            <a:r>
              <a:rPr lang="es-CL" sz="2400" dirty="0"/>
              <a:t>did</a:t>
            </a:r>
            <a:endParaRPr lang="fr-FR" sz="2400" dirty="0"/>
          </a:p>
          <a:p>
            <a:pPr lvl="1"/>
            <a:r>
              <a:rPr lang="fr-FR" sz="2400" dirty="0" err="1"/>
              <a:t>Where</a:t>
            </a:r>
            <a:r>
              <a:rPr lang="fr-FR" sz="2400" dirty="0"/>
              <a:t>:</a:t>
            </a:r>
          </a:p>
          <a:p>
            <a:pPr lvl="2"/>
            <a:r>
              <a:rPr lang="fr-FR" sz="1800" dirty="0"/>
              <a:t>a </a:t>
            </a:r>
            <a:r>
              <a:rPr lang="fr-FR" sz="1800" dirty="0" err="1"/>
              <a:t>represents</a:t>
            </a:r>
            <a:r>
              <a:rPr lang="fr-FR" sz="1800" dirty="0"/>
              <a:t> the group </a:t>
            </a:r>
            <a:r>
              <a:rPr lang="fr-FR" sz="1800" dirty="0" err="1"/>
              <a:t>with</a:t>
            </a:r>
            <a:r>
              <a:rPr lang="fr-FR" sz="1800" dirty="0"/>
              <a:t> the </a:t>
            </a:r>
            <a:r>
              <a:rPr lang="fr-FR" sz="1800" dirty="0" err="1"/>
              <a:t>policy</a:t>
            </a:r>
            <a:r>
              <a:rPr lang="fr-FR" sz="1800" dirty="0"/>
              <a:t> </a:t>
            </a:r>
          </a:p>
          <a:p>
            <a:pPr lvl="2"/>
            <a:r>
              <a:rPr lang="fr-FR" sz="1800" dirty="0"/>
              <a:t>t </a:t>
            </a:r>
            <a:r>
              <a:rPr lang="fr-FR" sz="1800" dirty="0" err="1"/>
              <a:t>epresents</a:t>
            </a:r>
            <a:r>
              <a:rPr lang="fr-FR" sz="1800" dirty="0"/>
              <a:t> the </a:t>
            </a:r>
            <a:r>
              <a:rPr lang="fr-FR" sz="1800" dirty="0" err="1"/>
              <a:t>period</a:t>
            </a:r>
            <a:r>
              <a:rPr lang="fr-FR" sz="1800" dirty="0"/>
              <a:t> </a:t>
            </a:r>
            <a:r>
              <a:rPr lang="fr-FR" sz="1800" dirty="0" err="1"/>
              <a:t>after</a:t>
            </a:r>
            <a:r>
              <a:rPr lang="fr-FR" sz="1800" dirty="0"/>
              <a:t> the </a:t>
            </a:r>
            <a:r>
              <a:rPr lang="fr-FR" sz="1800" dirty="0" err="1"/>
              <a:t>policy</a:t>
            </a:r>
            <a:r>
              <a:rPr lang="fr-FR" sz="1800" dirty="0"/>
              <a:t> </a:t>
            </a:r>
            <a:r>
              <a:rPr lang="fr-FR" sz="1800" dirty="0" err="1"/>
              <a:t>implementation</a:t>
            </a:r>
            <a:endParaRPr lang="fr-FR" sz="1800" dirty="0"/>
          </a:p>
          <a:p>
            <a:pPr lvl="2"/>
            <a:r>
              <a:rPr lang="fr-FR" sz="1800" dirty="0"/>
              <a:t>DID </a:t>
            </a:r>
            <a:r>
              <a:rPr lang="fr-FR" sz="1800" dirty="0" err="1"/>
              <a:t>is</a:t>
            </a:r>
            <a:r>
              <a:rPr lang="fr-FR" sz="1800" dirty="0"/>
              <a:t> the interaction </a:t>
            </a:r>
            <a:r>
              <a:rPr lang="fr-FR" sz="1800" dirty="0" err="1"/>
              <a:t>between</a:t>
            </a:r>
            <a:r>
              <a:rPr lang="fr-FR" sz="1800" dirty="0"/>
              <a:t> a and  t </a:t>
            </a:r>
          </a:p>
          <a:p>
            <a:pPr lvl="2"/>
            <a:endParaRPr lang="fr-FR" dirty="0"/>
          </a:p>
          <a:p>
            <a:pPr lvl="1"/>
            <a:endParaRPr lang="fr-FR" sz="2000" dirty="0"/>
          </a:p>
          <a:p>
            <a:pPr lvl="1"/>
            <a:endParaRPr lang="en-CA" sz="2000" dirty="0"/>
          </a:p>
        </p:txBody>
      </p:sp>
      <p:pic>
        <p:nvPicPr>
          <p:cNvPr id="4" name="Picture 3"/>
          <p:cNvPicPr>
            <a:picLocks noChangeAspect="1" noChangeArrowheads="1"/>
          </p:cNvPicPr>
          <p:nvPr/>
        </p:nvPicPr>
        <p:blipFill>
          <a:blip r:embed="rId3" cstate="print"/>
          <a:srcRect/>
          <a:stretch>
            <a:fillRect/>
          </a:stretch>
        </p:blipFill>
        <p:spPr bwMode="auto">
          <a:xfrm>
            <a:off x="2796863" y="2555512"/>
            <a:ext cx="5151658" cy="576064"/>
          </a:xfrm>
          <a:prstGeom prst="rect">
            <a:avLst/>
          </a:prstGeom>
          <a:noFill/>
          <a:ln w="9525">
            <a:noFill/>
            <a:miter lim="800000"/>
            <a:headEnd/>
            <a:tailEnd/>
          </a:ln>
        </p:spPr>
      </p:pic>
      <p:pic>
        <p:nvPicPr>
          <p:cNvPr id="5" name="Picture 5"/>
          <p:cNvPicPr>
            <a:picLocks noChangeAspect="1" noChangeArrowheads="1"/>
          </p:cNvPicPr>
          <p:nvPr/>
        </p:nvPicPr>
        <p:blipFill>
          <a:blip r:embed="rId4" cstate="print"/>
          <a:srcRect/>
          <a:stretch>
            <a:fillRect/>
          </a:stretch>
        </p:blipFill>
        <p:spPr bwMode="auto">
          <a:xfrm>
            <a:off x="3215279" y="3159008"/>
            <a:ext cx="4314825" cy="676275"/>
          </a:xfrm>
          <a:prstGeom prst="rect">
            <a:avLst/>
          </a:prstGeom>
          <a:noFill/>
          <a:ln w="9525">
            <a:noFill/>
            <a:miter lim="800000"/>
            <a:headEnd/>
            <a:tailEnd/>
          </a:ln>
        </p:spPr>
      </p:pic>
      <p:sp>
        <p:nvSpPr>
          <p:cNvPr id="7" name="Ellipse 6"/>
          <p:cNvSpPr/>
          <p:nvPr/>
        </p:nvSpPr>
        <p:spPr>
          <a:xfrm>
            <a:off x="5916079" y="4500081"/>
            <a:ext cx="421241" cy="534256"/>
          </a:xfrm>
          <a:prstGeom prst="ellipse">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23690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424C8D-E25F-47A0-96DE-D049DD73D89B}"/>
              </a:ext>
            </a:extLst>
          </p:cNvPr>
          <p:cNvSpPr>
            <a:spLocks noGrp="1"/>
          </p:cNvSpPr>
          <p:nvPr>
            <p:ph type="title"/>
          </p:nvPr>
        </p:nvSpPr>
        <p:spPr>
          <a:xfrm>
            <a:off x="1069848" y="398368"/>
            <a:ext cx="10058400" cy="1609344"/>
          </a:xfrm>
        </p:spPr>
        <p:txBody>
          <a:bodyPr/>
          <a:lstStyle/>
          <a:p>
            <a:r>
              <a:rPr lang="en-US" dirty="0"/>
              <a:t>How does it work?</a:t>
            </a:r>
          </a:p>
        </p:txBody>
      </p:sp>
      <p:graphicFrame>
        <p:nvGraphicFramePr>
          <p:cNvPr id="4" name="Espace réservé du contenu 3">
            <a:extLst>
              <a:ext uri="{FF2B5EF4-FFF2-40B4-BE49-F238E27FC236}">
                <a16:creationId xmlns:a16="http://schemas.microsoft.com/office/drawing/2014/main" id="{06FB110F-BBFA-411A-B1C6-DCA72C201EA7}"/>
              </a:ext>
            </a:extLst>
          </p:cNvPr>
          <p:cNvGraphicFramePr>
            <a:graphicFrameLocks noGrp="1"/>
          </p:cNvGraphicFramePr>
          <p:nvPr>
            <p:ph idx="1"/>
          </p:nvPr>
        </p:nvGraphicFramePr>
        <p:xfrm>
          <a:off x="1066800" y="2569474"/>
          <a:ext cx="10058400" cy="2743200"/>
        </p:xfrm>
        <a:graphic>
          <a:graphicData uri="http://schemas.openxmlformats.org/drawingml/2006/table">
            <a:tbl>
              <a:tblPr firstRow="1" bandRow="1">
                <a:tableStyleId>{5C22544A-7EE6-4342-B048-85BDC9FD1C3A}</a:tableStyleId>
              </a:tblPr>
              <a:tblGrid>
                <a:gridCol w="5029200">
                  <a:extLst>
                    <a:ext uri="{9D8B030D-6E8A-4147-A177-3AD203B41FA5}">
                      <a16:colId xmlns:a16="http://schemas.microsoft.com/office/drawing/2014/main" val="1986160586"/>
                    </a:ext>
                  </a:extLst>
                </a:gridCol>
                <a:gridCol w="5029200">
                  <a:extLst>
                    <a:ext uri="{9D8B030D-6E8A-4147-A177-3AD203B41FA5}">
                      <a16:colId xmlns:a16="http://schemas.microsoft.com/office/drawing/2014/main" val="1405437411"/>
                    </a:ext>
                  </a:extLst>
                </a:gridCol>
              </a:tblGrid>
              <a:tr h="370840">
                <a:tc>
                  <a:txBody>
                    <a:bodyPr/>
                    <a:lstStyle/>
                    <a:p>
                      <a:pPr algn="ctr"/>
                      <a:r>
                        <a:rPr lang="es-CL" sz="2800" b="1" dirty="0"/>
                        <a:t>β</a:t>
                      </a:r>
                      <a:r>
                        <a:rPr lang="es-CL" sz="2800" b="1" baseline="-25000" dirty="0"/>
                        <a:t>0</a:t>
                      </a:r>
                      <a:endParaRPr lang="en-US" sz="28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2800" b="1" dirty="0"/>
                        <a:t>β</a:t>
                      </a:r>
                      <a:r>
                        <a:rPr lang="es-CL" sz="2800" b="1" baseline="-25000" dirty="0"/>
                        <a:t>0 + </a:t>
                      </a:r>
                      <a:r>
                        <a:rPr lang="es-CL" sz="2800" b="1" dirty="0"/>
                        <a:t>β</a:t>
                      </a:r>
                      <a:r>
                        <a:rPr lang="es-CL" sz="2800" b="1" baseline="-25000" dirty="0"/>
                        <a:t>1</a:t>
                      </a:r>
                      <a:endParaRPr lang="en-US" sz="2800" b="1" dirty="0"/>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800" b="1" dirty="0"/>
                    </a:p>
                    <a:p>
                      <a:pPr algn="ctr"/>
                      <a:endParaRPr lang="en-US" sz="2800" b="1" dirty="0"/>
                    </a:p>
                  </a:txBody>
                  <a:tcPr/>
                </a:tc>
                <a:extLst>
                  <a:ext uri="{0D108BD9-81ED-4DB2-BD59-A6C34878D82A}">
                    <a16:rowId xmlns:a16="http://schemas.microsoft.com/office/drawing/2014/main" val="420551428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2800" b="1" dirty="0"/>
                        <a:t>Β</a:t>
                      </a:r>
                      <a:r>
                        <a:rPr lang="es-CL" sz="2800" b="1" dirty="0"/>
                        <a:t>’</a:t>
                      </a:r>
                      <a:r>
                        <a:rPr lang="es-CL" sz="2800" b="1" baseline="-25000" dirty="0"/>
                        <a:t>0 + </a:t>
                      </a:r>
                      <a:r>
                        <a:rPr lang="es-CL" sz="2800" b="1" dirty="0"/>
                        <a:t>β</a:t>
                      </a:r>
                      <a:r>
                        <a:rPr lang="es-CL" sz="2800" b="1" baseline="-25000" dirty="0"/>
                        <a:t>2</a:t>
                      </a:r>
                      <a:endParaRPr lang="en-US" sz="2800" b="1" dirty="0"/>
                    </a:p>
                    <a:p>
                      <a:pPr algn="ctr"/>
                      <a:endParaRPr lang="en-US" sz="28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2800" b="1" dirty="0"/>
                        <a:t>Β</a:t>
                      </a:r>
                      <a:r>
                        <a:rPr lang="es-CL" sz="2800" b="1" dirty="0"/>
                        <a:t>’</a:t>
                      </a:r>
                      <a:r>
                        <a:rPr lang="es-CL" sz="2800" b="1" baseline="-25000" dirty="0"/>
                        <a:t>0 + </a:t>
                      </a:r>
                      <a:r>
                        <a:rPr lang="es-CL" sz="2800" b="1" dirty="0"/>
                        <a:t>β’</a:t>
                      </a:r>
                      <a:r>
                        <a:rPr lang="es-CL" sz="2800" b="1" baseline="-25000" dirty="0"/>
                        <a:t>1 + </a:t>
                      </a:r>
                      <a:r>
                        <a:rPr lang="es-CL" sz="2800" b="1" dirty="0"/>
                        <a:t>β’</a:t>
                      </a:r>
                      <a:r>
                        <a:rPr lang="es-CL" sz="2800" b="1" baseline="-25000" dirty="0"/>
                        <a:t>2 + </a:t>
                      </a:r>
                      <a:r>
                        <a:rPr lang="es-CL" sz="2800" b="1" dirty="0"/>
                        <a:t>β</a:t>
                      </a:r>
                      <a:r>
                        <a:rPr lang="es-CL" sz="2800" b="1" baseline="-25000" dirty="0"/>
                        <a:t>3</a:t>
                      </a:r>
                      <a:endParaRPr lang="en-US" sz="2800" b="1" dirty="0"/>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800" b="1" dirty="0"/>
                    </a:p>
                    <a:p>
                      <a:pPr algn="ctr"/>
                      <a:endParaRPr lang="en-US" sz="2800" b="1" dirty="0"/>
                    </a:p>
                  </a:txBody>
                  <a:tcPr/>
                </a:tc>
                <a:extLst>
                  <a:ext uri="{0D108BD9-81ED-4DB2-BD59-A6C34878D82A}">
                    <a16:rowId xmlns:a16="http://schemas.microsoft.com/office/drawing/2014/main" val="267166706"/>
                  </a:ext>
                </a:extLst>
              </a:tr>
            </a:tbl>
          </a:graphicData>
        </a:graphic>
      </p:graphicFrame>
      <p:sp>
        <p:nvSpPr>
          <p:cNvPr id="5" name="ZoneTexte 4">
            <a:extLst>
              <a:ext uri="{FF2B5EF4-FFF2-40B4-BE49-F238E27FC236}">
                <a16:creationId xmlns:a16="http://schemas.microsoft.com/office/drawing/2014/main" id="{E833A06E-C5A5-40AB-A80B-84885A044FFF}"/>
              </a:ext>
            </a:extLst>
          </p:cNvPr>
          <p:cNvSpPr txBox="1"/>
          <p:nvPr/>
        </p:nvSpPr>
        <p:spPr>
          <a:xfrm>
            <a:off x="2294626" y="2007712"/>
            <a:ext cx="2536166" cy="461665"/>
          </a:xfrm>
          <a:prstGeom prst="rect">
            <a:avLst/>
          </a:prstGeom>
          <a:noFill/>
        </p:spPr>
        <p:txBody>
          <a:bodyPr wrap="square" rtlCol="0">
            <a:spAutoFit/>
          </a:bodyPr>
          <a:lstStyle/>
          <a:p>
            <a:pPr algn="ctr"/>
            <a:r>
              <a:rPr lang="en-US" sz="2400" b="1" dirty="0"/>
              <a:t>T=0</a:t>
            </a:r>
          </a:p>
        </p:txBody>
      </p:sp>
      <p:sp>
        <p:nvSpPr>
          <p:cNvPr id="6" name="ZoneTexte 5">
            <a:extLst>
              <a:ext uri="{FF2B5EF4-FFF2-40B4-BE49-F238E27FC236}">
                <a16:creationId xmlns:a16="http://schemas.microsoft.com/office/drawing/2014/main" id="{2A6271A5-418B-4C7C-B9C3-FE95B8C41DDB}"/>
              </a:ext>
            </a:extLst>
          </p:cNvPr>
          <p:cNvSpPr txBox="1"/>
          <p:nvPr/>
        </p:nvSpPr>
        <p:spPr>
          <a:xfrm>
            <a:off x="7208808" y="2057760"/>
            <a:ext cx="2536166" cy="461665"/>
          </a:xfrm>
          <a:prstGeom prst="rect">
            <a:avLst/>
          </a:prstGeom>
          <a:noFill/>
        </p:spPr>
        <p:txBody>
          <a:bodyPr wrap="square" rtlCol="0">
            <a:spAutoFit/>
          </a:bodyPr>
          <a:lstStyle/>
          <a:p>
            <a:pPr algn="ctr"/>
            <a:r>
              <a:rPr lang="en-US" sz="2400" b="1" dirty="0"/>
              <a:t>T=1</a:t>
            </a:r>
          </a:p>
        </p:txBody>
      </p:sp>
      <p:sp>
        <p:nvSpPr>
          <p:cNvPr id="7" name="ZoneTexte 6">
            <a:extLst>
              <a:ext uri="{FF2B5EF4-FFF2-40B4-BE49-F238E27FC236}">
                <a16:creationId xmlns:a16="http://schemas.microsoft.com/office/drawing/2014/main" id="{645AF9A4-0F39-4602-8D21-07B32391E6A4}"/>
              </a:ext>
            </a:extLst>
          </p:cNvPr>
          <p:cNvSpPr txBox="1"/>
          <p:nvPr/>
        </p:nvSpPr>
        <p:spPr>
          <a:xfrm>
            <a:off x="-727495" y="3198167"/>
            <a:ext cx="2536166" cy="461665"/>
          </a:xfrm>
          <a:prstGeom prst="rect">
            <a:avLst/>
          </a:prstGeom>
          <a:noFill/>
        </p:spPr>
        <p:txBody>
          <a:bodyPr wrap="square" rtlCol="0">
            <a:spAutoFit/>
          </a:bodyPr>
          <a:lstStyle/>
          <a:p>
            <a:pPr algn="ctr"/>
            <a:r>
              <a:rPr lang="en-US" sz="2400" b="1" dirty="0"/>
              <a:t>A=0</a:t>
            </a:r>
          </a:p>
        </p:txBody>
      </p:sp>
      <p:sp>
        <p:nvSpPr>
          <p:cNvPr id="8" name="ZoneTexte 7">
            <a:extLst>
              <a:ext uri="{FF2B5EF4-FFF2-40B4-BE49-F238E27FC236}">
                <a16:creationId xmlns:a16="http://schemas.microsoft.com/office/drawing/2014/main" id="{75DED68B-445C-482A-A98C-D89A20C97E1F}"/>
              </a:ext>
            </a:extLst>
          </p:cNvPr>
          <p:cNvSpPr txBox="1"/>
          <p:nvPr/>
        </p:nvSpPr>
        <p:spPr>
          <a:xfrm>
            <a:off x="-727495" y="4388622"/>
            <a:ext cx="2536166" cy="461665"/>
          </a:xfrm>
          <a:prstGeom prst="rect">
            <a:avLst/>
          </a:prstGeom>
          <a:noFill/>
        </p:spPr>
        <p:txBody>
          <a:bodyPr wrap="square" rtlCol="0">
            <a:spAutoFit/>
          </a:bodyPr>
          <a:lstStyle/>
          <a:p>
            <a:pPr algn="ctr"/>
            <a:r>
              <a:rPr lang="en-US" sz="2400" b="1" dirty="0"/>
              <a:t>A=1</a:t>
            </a:r>
          </a:p>
        </p:txBody>
      </p:sp>
      <p:sp>
        <p:nvSpPr>
          <p:cNvPr id="9" name="Rectangle 8">
            <a:extLst>
              <a:ext uri="{FF2B5EF4-FFF2-40B4-BE49-F238E27FC236}">
                <a16:creationId xmlns:a16="http://schemas.microsoft.com/office/drawing/2014/main" id="{7B054E10-BA55-46D7-B783-A2A06FD97FC7}"/>
              </a:ext>
            </a:extLst>
          </p:cNvPr>
          <p:cNvSpPr/>
          <p:nvPr/>
        </p:nvSpPr>
        <p:spPr>
          <a:xfrm>
            <a:off x="1512498" y="5579077"/>
            <a:ext cx="7579744" cy="461665"/>
          </a:xfrm>
          <a:prstGeom prst="rect">
            <a:avLst/>
          </a:prstGeom>
        </p:spPr>
        <p:txBody>
          <a:bodyPr wrap="square">
            <a:spAutoFit/>
          </a:bodyPr>
          <a:lstStyle/>
          <a:p>
            <a:pPr lvl="1"/>
            <a:r>
              <a:rPr lang="es-CL" sz="2400" dirty="0"/>
              <a:t>E[Y | a, </a:t>
            </a:r>
            <a:r>
              <a:rPr lang="es-CL" sz="2400" dirty="0" err="1"/>
              <a:t>t,did</a:t>
            </a:r>
            <a:r>
              <a:rPr lang="es-CL" sz="2400" dirty="0"/>
              <a:t>] = β</a:t>
            </a:r>
            <a:r>
              <a:rPr lang="es-CL" sz="2400" baseline="-25000" dirty="0"/>
              <a:t>0</a:t>
            </a:r>
            <a:r>
              <a:rPr lang="es-CL" sz="2400" dirty="0"/>
              <a:t> + β</a:t>
            </a:r>
            <a:r>
              <a:rPr lang="es-CL" sz="2400" baseline="-25000" dirty="0"/>
              <a:t>1</a:t>
            </a:r>
            <a:r>
              <a:rPr lang="es-CL" sz="2400" dirty="0"/>
              <a:t>t + β</a:t>
            </a:r>
            <a:r>
              <a:rPr lang="es-CL" sz="2400" baseline="-25000" dirty="0"/>
              <a:t>2</a:t>
            </a:r>
            <a:r>
              <a:rPr lang="es-CL" sz="2400" dirty="0"/>
              <a:t>a</a:t>
            </a:r>
            <a:r>
              <a:rPr lang="fr-FR" sz="2400" dirty="0"/>
              <a:t> </a:t>
            </a:r>
            <a:r>
              <a:rPr lang="es-CL" sz="2400" dirty="0"/>
              <a:t>+ β</a:t>
            </a:r>
            <a:r>
              <a:rPr lang="es-CL" sz="2400" baseline="-25000" dirty="0"/>
              <a:t>3</a:t>
            </a:r>
            <a:r>
              <a:rPr lang="es-CL" sz="2400" dirty="0"/>
              <a:t> [a*t]</a:t>
            </a:r>
            <a:endParaRPr lang="fr-FR" sz="2400" dirty="0"/>
          </a:p>
        </p:txBody>
      </p:sp>
      <p:sp>
        <p:nvSpPr>
          <p:cNvPr id="10" name="Accolade fermante 9">
            <a:extLst>
              <a:ext uri="{FF2B5EF4-FFF2-40B4-BE49-F238E27FC236}">
                <a16:creationId xmlns:a16="http://schemas.microsoft.com/office/drawing/2014/main" id="{8D9D4769-B15B-4013-A7C3-AC6BB187ADB9}"/>
              </a:ext>
            </a:extLst>
          </p:cNvPr>
          <p:cNvSpPr/>
          <p:nvPr/>
        </p:nvSpPr>
        <p:spPr>
          <a:xfrm>
            <a:off x="7884543" y="5579077"/>
            <a:ext cx="310551" cy="88055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ZoneTexte 10">
            <a:extLst>
              <a:ext uri="{FF2B5EF4-FFF2-40B4-BE49-F238E27FC236}">
                <a16:creationId xmlns:a16="http://schemas.microsoft.com/office/drawing/2014/main" id="{73A6FAA3-5775-4448-999D-BDF79EBF0CA7}"/>
              </a:ext>
            </a:extLst>
          </p:cNvPr>
          <p:cNvSpPr txBox="1"/>
          <p:nvPr/>
        </p:nvSpPr>
        <p:spPr>
          <a:xfrm>
            <a:off x="8246853" y="5362723"/>
            <a:ext cx="1311215" cy="1200329"/>
          </a:xfrm>
          <a:prstGeom prst="rect">
            <a:avLst/>
          </a:prstGeom>
          <a:noFill/>
        </p:spPr>
        <p:txBody>
          <a:bodyPr wrap="square" rtlCol="0">
            <a:spAutoFit/>
          </a:bodyPr>
          <a:lstStyle/>
          <a:p>
            <a:r>
              <a:rPr lang="en-US" dirty="0"/>
              <a:t>0  0</a:t>
            </a:r>
          </a:p>
          <a:p>
            <a:r>
              <a:rPr lang="en-US" dirty="0"/>
              <a:t>1  0</a:t>
            </a:r>
          </a:p>
          <a:p>
            <a:r>
              <a:rPr lang="en-US" dirty="0"/>
              <a:t>0  1</a:t>
            </a:r>
          </a:p>
          <a:p>
            <a:r>
              <a:rPr lang="en-US" b="1" dirty="0"/>
              <a:t>1  1</a:t>
            </a:r>
          </a:p>
        </p:txBody>
      </p:sp>
      <p:sp>
        <p:nvSpPr>
          <p:cNvPr id="12" name="Ellipse 11">
            <a:extLst>
              <a:ext uri="{FF2B5EF4-FFF2-40B4-BE49-F238E27FC236}">
                <a16:creationId xmlns:a16="http://schemas.microsoft.com/office/drawing/2014/main" id="{63C42621-F8E8-47E8-A117-A6FA458D3003}"/>
              </a:ext>
            </a:extLst>
          </p:cNvPr>
          <p:cNvSpPr/>
          <p:nvPr/>
        </p:nvSpPr>
        <p:spPr>
          <a:xfrm>
            <a:off x="8005313" y="6195803"/>
            <a:ext cx="1086929" cy="419615"/>
          </a:xfrm>
          <a:prstGeom prst="ellipse">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ZoneTexte 2">
            <a:extLst>
              <a:ext uri="{FF2B5EF4-FFF2-40B4-BE49-F238E27FC236}">
                <a16:creationId xmlns:a16="http://schemas.microsoft.com/office/drawing/2014/main" id="{B5082B7F-5B45-41B1-922D-E8E9B2544A06}"/>
              </a:ext>
            </a:extLst>
          </p:cNvPr>
          <p:cNvSpPr txBox="1"/>
          <p:nvPr/>
        </p:nvSpPr>
        <p:spPr>
          <a:xfrm>
            <a:off x="34413" y="6082444"/>
            <a:ext cx="1906252" cy="646331"/>
          </a:xfrm>
          <a:prstGeom prst="rect">
            <a:avLst/>
          </a:prstGeom>
          <a:noFill/>
          <a:ln>
            <a:solidFill>
              <a:schemeClr val="tx1"/>
            </a:solidFill>
          </a:ln>
        </p:spPr>
        <p:txBody>
          <a:bodyPr wrap="square" rtlCol="0">
            <a:spAutoFit/>
          </a:bodyPr>
          <a:lstStyle/>
          <a:p>
            <a:pPr algn="ctr"/>
            <a:r>
              <a:rPr lang="en-US" b="1" dirty="0"/>
              <a:t>Like a double fixed effect </a:t>
            </a:r>
          </a:p>
        </p:txBody>
      </p:sp>
      <p:sp>
        <p:nvSpPr>
          <p:cNvPr id="13" name="ZoneTexte 12">
            <a:extLst>
              <a:ext uri="{FF2B5EF4-FFF2-40B4-BE49-F238E27FC236}">
                <a16:creationId xmlns:a16="http://schemas.microsoft.com/office/drawing/2014/main" id="{B7878A91-DFD6-4532-9025-FE2A71C0A8AE}"/>
              </a:ext>
            </a:extLst>
          </p:cNvPr>
          <p:cNvSpPr txBox="1"/>
          <p:nvPr/>
        </p:nvSpPr>
        <p:spPr>
          <a:xfrm>
            <a:off x="9609827" y="5721522"/>
            <a:ext cx="1734448" cy="954107"/>
          </a:xfrm>
          <a:prstGeom prst="rect">
            <a:avLst/>
          </a:prstGeom>
          <a:noFill/>
          <a:ln>
            <a:solidFill>
              <a:schemeClr val="tx1"/>
            </a:solidFill>
          </a:ln>
        </p:spPr>
        <p:txBody>
          <a:bodyPr wrap="square" rtlCol="0">
            <a:spAutoFit/>
          </a:bodyPr>
          <a:lstStyle/>
          <a:p>
            <a:pPr algn="ctr"/>
            <a:r>
              <a:rPr lang="en-US" sz="1400" b="1" dirty="0"/>
              <a:t>You can also include more complex time trends </a:t>
            </a:r>
          </a:p>
        </p:txBody>
      </p:sp>
    </p:spTree>
    <p:extLst>
      <p:ext uri="{BB962C8B-B14F-4D97-AF65-F5344CB8AC3E}">
        <p14:creationId xmlns:p14="http://schemas.microsoft.com/office/powerpoint/2010/main" val="2187186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DID assumptions </a:t>
            </a:r>
          </a:p>
        </p:txBody>
      </p:sp>
      <p:sp>
        <p:nvSpPr>
          <p:cNvPr id="3" name="Espace réservé du contenu 2"/>
          <p:cNvSpPr>
            <a:spLocks noGrp="1"/>
          </p:cNvSpPr>
          <p:nvPr>
            <p:ph idx="1"/>
          </p:nvPr>
        </p:nvSpPr>
        <p:spPr>
          <a:xfrm>
            <a:off x="680321" y="2336873"/>
            <a:ext cx="10128092" cy="4259136"/>
          </a:xfrm>
        </p:spPr>
        <p:txBody>
          <a:bodyPr>
            <a:normAutofit/>
          </a:bodyPr>
          <a:lstStyle/>
          <a:p>
            <a:r>
              <a:rPr lang="en-US" sz="3600" dirty="0"/>
              <a:t>The key assumptions of the </a:t>
            </a:r>
            <a:r>
              <a:rPr lang="en-US" sz="3600" dirty="0" err="1"/>
              <a:t>DiD</a:t>
            </a:r>
            <a:r>
              <a:rPr lang="en-US" sz="3600" dirty="0"/>
              <a:t> analysis are:</a:t>
            </a:r>
          </a:p>
          <a:p>
            <a:pPr marL="731520" lvl="1" indent="-457200">
              <a:buFont typeface="+mj-lt"/>
              <a:buAutoNum type="arabicPeriod"/>
            </a:pPr>
            <a:r>
              <a:rPr lang="en-US" sz="3200" dirty="0"/>
              <a:t>The trend in the control group represents a good approximation for the counterfactual trend of the treated group in the absence of the treatment. </a:t>
            </a:r>
          </a:p>
          <a:p>
            <a:pPr marL="731520" lvl="1" indent="-457200">
              <a:buFont typeface="+mj-lt"/>
              <a:buAutoNum type="arabicPeriod"/>
            </a:pPr>
            <a:r>
              <a:rPr lang="en-US" sz="3200" dirty="0"/>
              <a:t>Common Shock Assumption</a:t>
            </a:r>
          </a:p>
          <a:p>
            <a:pPr marL="731520" lvl="1" indent="-457200">
              <a:buFont typeface="+mj-lt"/>
              <a:buAutoNum type="arabicPeriod"/>
            </a:pPr>
            <a:r>
              <a:rPr lang="en-US" sz="3200" dirty="0"/>
              <a:t>No spillover </a:t>
            </a:r>
          </a:p>
          <a:p>
            <a:pPr lvl="1"/>
            <a:endParaRPr lang="en-US" sz="3200" dirty="0"/>
          </a:p>
        </p:txBody>
      </p:sp>
    </p:spTree>
    <p:extLst>
      <p:ext uri="{BB962C8B-B14F-4D97-AF65-F5344CB8AC3E}">
        <p14:creationId xmlns:p14="http://schemas.microsoft.com/office/powerpoint/2010/main" val="1890488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936" y="80172"/>
            <a:ext cx="10058400" cy="1609344"/>
          </a:xfrm>
        </p:spPr>
        <p:txBody>
          <a:bodyPr/>
          <a:lstStyle/>
          <a:p>
            <a:r>
              <a:rPr lang="en-US" dirty="0"/>
              <a:t>Many applications</a:t>
            </a:r>
          </a:p>
        </p:txBody>
      </p:sp>
      <p:pic>
        <p:nvPicPr>
          <p:cNvPr id="4" name="Content Placeholder 3"/>
          <p:cNvPicPr>
            <a:picLocks noGrp="1" noChangeAspect="1"/>
          </p:cNvPicPr>
          <p:nvPr>
            <p:ph idx="1"/>
          </p:nvPr>
        </p:nvPicPr>
        <p:blipFill>
          <a:blip r:embed="rId2"/>
          <a:stretch>
            <a:fillRect/>
          </a:stretch>
        </p:blipFill>
        <p:spPr>
          <a:xfrm>
            <a:off x="0" y="1881085"/>
            <a:ext cx="6493995" cy="1466757"/>
          </a:xfrm>
          <a:prstGeom prst="rect">
            <a:avLst/>
          </a:prstGeom>
        </p:spPr>
      </p:pic>
      <p:pic>
        <p:nvPicPr>
          <p:cNvPr id="5" name="Picture 4"/>
          <p:cNvPicPr>
            <a:picLocks noChangeAspect="1"/>
          </p:cNvPicPr>
          <p:nvPr/>
        </p:nvPicPr>
        <p:blipFill>
          <a:blip r:embed="rId3"/>
          <a:stretch>
            <a:fillRect/>
          </a:stretch>
        </p:blipFill>
        <p:spPr>
          <a:xfrm>
            <a:off x="94936" y="3490429"/>
            <a:ext cx="5370325" cy="1262898"/>
          </a:xfrm>
          <a:prstGeom prst="rect">
            <a:avLst/>
          </a:prstGeom>
        </p:spPr>
      </p:pic>
      <p:pic>
        <p:nvPicPr>
          <p:cNvPr id="6" name="Picture 5"/>
          <p:cNvPicPr>
            <a:picLocks noChangeAspect="1"/>
          </p:cNvPicPr>
          <p:nvPr/>
        </p:nvPicPr>
        <p:blipFill>
          <a:blip r:embed="rId4"/>
          <a:stretch>
            <a:fillRect/>
          </a:stretch>
        </p:blipFill>
        <p:spPr>
          <a:xfrm>
            <a:off x="57993" y="4753327"/>
            <a:ext cx="2296904" cy="1838520"/>
          </a:xfrm>
          <a:prstGeom prst="rect">
            <a:avLst/>
          </a:prstGeom>
        </p:spPr>
      </p:pic>
      <p:pic>
        <p:nvPicPr>
          <p:cNvPr id="7" name="Picture 6"/>
          <p:cNvPicPr>
            <a:picLocks noChangeAspect="1"/>
          </p:cNvPicPr>
          <p:nvPr/>
        </p:nvPicPr>
        <p:blipFill>
          <a:blip r:embed="rId5"/>
          <a:stretch>
            <a:fillRect/>
          </a:stretch>
        </p:blipFill>
        <p:spPr>
          <a:xfrm>
            <a:off x="6493995" y="564301"/>
            <a:ext cx="5429746" cy="933645"/>
          </a:xfrm>
          <a:prstGeom prst="rect">
            <a:avLst/>
          </a:prstGeom>
        </p:spPr>
      </p:pic>
      <p:pic>
        <p:nvPicPr>
          <p:cNvPr id="8" name="Picture 7"/>
          <p:cNvPicPr>
            <a:picLocks noChangeAspect="1"/>
          </p:cNvPicPr>
          <p:nvPr/>
        </p:nvPicPr>
        <p:blipFill>
          <a:blip r:embed="rId6"/>
          <a:stretch>
            <a:fillRect/>
          </a:stretch>
        </p:blipFill>
        <p:spPr>
          <a:xfrm>
            <a:off x="6367183" y="1828509"/>
            <a:ext cx="4443971" cy="1235997"/>
          </a:xfrm>
          <a:prstGeom prst="rect">
            <a:avLst/>
          </a:prstGeom>
        </p:spPr>
      </p:pic>
      <p:pic>
        <p:nvPicPr>
          <p:cNvPr id="9" name="Picture 8"/>
          <p:cNvPicPr>
            <a:picLocks noChangeAspect="1"/>
          </p:cNvPicPr>
          <p:nvPr/>
        </p:nvPicPr>
        <p:blipFill>
          <a:blip r:embed="rId7"/>
          <a:stretch>
            <a:fillRect/>
          </a:stretch>
        </p:blipFill>
        <p:spPr>
          <a:xfrm>
            <a:off x="6743700" y="3552052"/>
            <a:ext cx="5448300" cy="1201275"/>
          </a:xfrm>
          <a:prstGeom prst="rect">
            <a:avLst/>
          </a:prstGeom>
        </p:spPr>
      </p:pic>
      <p:pic>
        <p:nvPicPr>
          <p:cNvPr id="10" name="Picture 9"/>
          <p:cNvPicPr>
            <a:picLocks noChangeAspect="1"/>
          </p:cNvPicPr>
          <p:nvPr/>
        </p:nvPicPr>
        <p:blipFill>
          <a:blip r:embed="rId8"/>
          <a:stretch>
            <a:fillRect/>
          </a:stretch>
        </p:blipFill>
        <p:spPr>
          <a:xfrm>
            <a:off x="5897306" y="4861826"/>
            <a:ext cx="5904729" cy="810761"/>
          </a:xfrm>
          <a:prstGeom prst="rect">
            <a:avLst/>
          </a:prstGeom>
        </p:spPr>
      </p:pic>
    </p:spTree>
    <p:extLst>
      <p:ext uri="{BB962C8B-B14F-4D97-AF65-F5344CB8AC3E}">
        <p14:creationId xmlns:p14="http://schemas.microsoft.com/office/powerpoint/2010/main" val="1931457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9FC2F9-DBCD-4D0D-9104-4EC1EE1CC7F4}"/>
              </a:ext>
            </a:extLst>
          </p:cNvPr>
          <p:cNvSpPr>
            <a:spLocks noGrp="1"/>
          </p:cNvSpPr>
          <p:nvPr>
            <p:ph type="title"/>
          </p:nvPr>
        </p:nvSpPr>
        <p:spPr/>
        <p:txBody>
          <a:bodyPr/>
          <a:lstStyle/>
          <a:p>
            <a:r>
              <a:rPr lang="en-US" dirty="0" err="1"/>
              <a:t>DiD</a:t>
            </a:r>
            <a:r>
              <a:rPr lang="en-US" dirty="0"/>
              <a:t> coupled with Propensity Score methods</a:t>
            </a:r>
          </a:p>
        </p:txBody>
      </p:sp>
      <p:sp>
        <p:nvSpPr>
          <p:cNvPr id="3" name="Espace réservé du contenu 2">
            <a:extLst>
              <a:ext uri="{FF2B5EF4-FFF2-40B4-BE49-F238E27FC236}">
                <a16:creationId xmlns:a16="http://schemas.microsoft.com/office/drawing/2014/main" id="{81408BFE-DD74-4930-835F-15D52FFDD632}"/>
              </a:ext>
            </a:extLst>
          </p:cNvPr>
          <p:cNvSpPr>
            <a:spLocks noGrp="1"/>
          </p:cNvSpPr>
          <p:nvPr>
            <p:ph idx="1"/>
          </p:nvPr>
        </p:nvSpPr>
        <p:spPr/>
        <p:txBody>
          <a:bodyPr/>
          <a:lstStyle/>
          <a:p>
            <a:r>
              <a:rPr lang="en-US" dirty="0"/>
              <a:t>When multiple control groups are available, it is possible to use available information on time-varying and time-fixed confounders </a:t>
            </a:r>
          </a:p>
          <a:p>
            <a:r>
              <a:rPr lang="en-US" dirty="0"/>
              <a:t>We can use propensity score matching and IPTW for example</a:t>
            </a:r>
          </a:p>
          <a:p>
            <a:r>
              <a:rPr lang="en-US" dirty="0"/>
              <a:t>By doing so, we aim at identifying similar observations at each time point in the control groups</a:t>
            </a:r>
          </a:p>
        </p:txBody>
      </p:sp>
      <p:grpSp>
        <p:nvGrpSpPr>
          <p:cNvPr id="5" name="Group 4">
            <a:extLst>
              <a:ext uri="{FF2B5EF4-FFF2-40B4-BE49-F238E27FC236}">
                <a16:creationId xmlns:a16="http://schemas.microsoft.com/office/drawing/2014/main" id="{F96CBC1D-5D92-4F62-96CB-0EE50701C56B}"/>
              </a:ext>
            </a:extLst>
          </p:cNvPr>
          <p:cNvGrpSpPr>
            <a:grpSpLocks noChangeAspect="1"/>
          </p:cNvGrpSpPr>
          <p:nvPr/>
        </p:nvGrpSpPr>
        <p:grpSpPr bwMode="auto">
          <a:xfrm>
            <a:off x="219741" y="5457089"/>
            <a:ext cx="4116285" cy="916279"/>
            <a:chOff x="157" y="3001"/>
            <a:chExt cx="4133" cy="920"/>
          </a:xfrm>
        </p:grpSpPr>
        <p:sp>
          <p:nvSpPr>
            <p:cNvPr id="6" name="AutoShape 3">
              <a:extLst>
                <a:ext uri="{FF2B5EF4-FFF2-40B4-BE49-F238E27FC236}">
                  <a16:creationId xmlns:a16="http://schemas.microsoft.com/office/drawing/2014/main" id="{97C4423D-AE1F-42D7-972E-5036756B2D2D}"/>
                </a:ext>
              </a:extLst>
            </p:cNvPr>
            <p:cNvSpPr>
              <a:spLocks noChangeAspect="1" noChangeArrowheads="1" noTextEdit="1"/>
            </p:cNvSpPr>
            <p:nvPr/>
          </p:nvSpPr>
          <p:spPr bwMode="auto">
            <a:xfrm>
              <a:off x="157" y="3001"/>
              <a:ext cx="4133" cy="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4101" name="Picture 5">
              <a:extLst>
                <a:ext uri="{FF2B5EF4-FFF2-40B4-BE49-F238E27FC236}">
                  <a16:creationId xmlns:a16="http://schemas.microsoft.com/office/drawing/2014/main" id="{1E0BB2C0-340E-439A-8514-D69AA287DE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 y="3001"/>
              <a:ext cx="4139" cy="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 name="Group 12">
            <a:extLst>
              <a:ext uri="{FF2B5EF4-FFF2-40B4-BE49-F238E27FC236}">
                <a16:creationId xmlns:a16="http://schemas.microsoft.com/office/drawing/2014/main" id="{4925D6E5-F924-4E13-A302-F3945DCD3888}"/>
              </a:ext>
            </a:extLst>
          </p:cNvPr>
          <p:cNvGrpSpPr>
            <a:grpSpLocks noChangeAspect="1"/>
          </p:cNvGrpSpPr>
          <p:nvPr/>
        </p:nvGrpSpPr>
        <p:grpSpPr bwMode="auto">
          <a:xfrm>
            <a:off x="6096" y="4074291"/>
            <a:ext cx="4891497" cy="1303568"/>
            <a:chOff x="703" y="1324"/>
            <a:chExt cx="6274" cy="1672"/>
          </a:xfrm>
        </p:grpSpPr>
        <p:sp>
          <p:nvSpPr>
            <p:cNvPr id="12" name="AutoShape 11">
              <a:extLst>
                <a:ext uri="{FF2B5EF4-FFF2-40B4-BE49-F238E27FC236}">
                  <a16:creationId xmlns:a16="http://schemas.microsoft.com/office/drawing/2014/main" id="{5ABBCDC5-36A4-4F19-A07E-9EC8A728E3AA}"/>
                </a:ext>
              </a:extLst>
            </p:cNvPr>
            <p:cNvSpPr>
              <a:spLocks noChangeAspect="1" noChangeArrowheads="1" noTextEdit="1"/>
            </p:cNvSpPr>
            <p:nvPr/>
          </p:nvSpPr>
          <p:spPr bwMode="auto">
            <a:xfrm>
              <a:off x="703" y="1324"/>
              <a:ext cx="6274" cy="1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4109" name="Picture 13">
              <a:extLst>
                <a:ext uri="{FF2B5EF4-FFF2-40B4-BE49-F238E27FC236}">
                  <a16:creationId xmlns:a16="http://schemas.microsoft.com/office/drawing/2014/main" id="{4CF0DEE9-BA14-473C-93AD-B7051F6699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 y="1324"/>
              <a:ext cx="6280" cy="1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 name="Group 16">
            <a:extLst>
              <a:ext uri="{FF2B5EF4-FFF2-40B4-BE49-F238E27FC236}">
                <a16:creationId xmlns:a16="http://schemas.microsoft.com/office/drawing/2014/main" id="{2C5BF1AC-F9C8-4155-A844-2CAECB77FE77}"/>
              </a:ext>
            </a:extLst>
          </p:cNvPr>
          <p:cNvGrpSpPr>
            <a:grpSpLocks noChangeAspect="1"/>
          </p:cNvGrpSpPr>
          <p:nvPr/>
        </p:nvGrpSpPr>
        <p:grpSpPr bwMode="auto">
          <a:xfrm>
            <a:off x="3922884" y="6072001"/>
            <a:ext cx="3927116" cy="602734"/>
            <a:chOff x="2159" y="1902"/>
            <a:chExt cx="3362" cy="516"/>
          </a:xfrm>
        </p:grpSpPr>
        <p:sp>
          <p:nvSpPr>
            <p:cNvPr id="15" name="AutoShape 15">
              <a:extLst>
                <a:ext uri="{FF2B5EF4-FFF2-40B4-BE49-F238E27FC236}">
                  <a16:creationId xmlns:a16="http://schemas.microsoft.com/office/drawing/2014/main" id="{AF906A41-AA1C-4E72-A5A3-FBFE51F11A97}"/>
                </a:ext>
              </a:extLst>
            </p:cNvPr>
            <p:cNvSpPr>
              <a:spLocks noChangeAspect="1" noChangeArrowheads="1" noTextEdit="1"/>
            </p:cNvSpPr>
            <p:nvPr/>
          </p:nvSpPr>
          <p:spPr bwMode="auto">
            <a:xfrm>
              <a:off x="2159" y="1902"/>
              <a:ext cx="3362"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4113" name="Picture 17">
              <a:extLst>
                <a:ext uri="{FF2B5EF4-FFF2-40B4-BE49-F238E27FC236}">
                  <a16:creationId xmlns:a16="http://schemas.microsoft.com/office/drawing/2014/main" id="{5938E18C-72AF-4215-866C-7AC3B19C45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 y="1902"/>
              <a:ext cx="3368" cy="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9810777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BC3B89-52D4-479F-A686-DA7364B13D5C}"/>
              </a:ext>
            </a:extLst>
          </p:cNvPr>
          <p:cNvSpPr>
            <a:spLocks noGrp="1"/>
          </p:cNvSpPr>
          <p:nvPr>
            <p:ph type="title"/>
          </p:nvPr>
        </p:nvSpPr>
        <p:spPr>
          <a:xfrm>
            <a:off x="599331" y="379825"/>
            <a:ext cx="10058400" cy="1609344"/>
          </a:xfrm>
        </p:spPr>
        <p:txBody>
          <a:bodyPr>
            <a:normAutofit/>
          </a:bodyPr>
          <a:lstStyle/>
          <a:p>
            <a:r>
              <a:rPr lang="en-US" sz="4400" dirty="0"/>
              <a:t>Interrupted time series:</a:t>
            </a:r>
            <a:br>
              <a:rPr lang="en-US" sz="4400" dirty="0"/>
            </a:br>
            <a:r>
              <a:rPr lang="en-US" sz="4400" dirty="0"/>
              <a:t>DID </a:t>
            </a:r>
            <a:r>
              <a:rPr lang="en-US" sz="4400" u="sng" dirty="0"/>
              <a:t>without</a:t>
            </a:r>
            <a:r>
              <a:rPr lang="en-US" sz="4400" dirty="0"/>
              <a:t> control groups</a:t>
            </a:r>
          </a:p>
        </p:txBody>
      </p:sp>
      <p:pic>
        <p:nvPicPr>
          <p:cNvPr id="5" name="Picture">
            <a:extLst>
              <a:ext uri="{FF2B5EF4-FFF2-40B4-BE49-F238E27FC236}">
                <a16:creationId xmlns:a16="http://schemas.microsoft.com/office/drawing/2014/main" id="{D74A08FB-9B8E-4A8E-A598-5CF6A56BFCA7}"/>
              </a:ext>
            </a:extLst>
          </p:cNvPr>
          <p:cNvPicPr/>
          <p:nvPr/>
        </p:nvPicPr>
        <p:blipFill>
          <a:blip r:embed="rId2"/>
          <a:stretch>
            <a:fillRect/>
          </a:stretch>
        </p:blipFill>
        <p:spPr bwMode="auto">
          <a:xfrm>
            <a:off x="199688" y="1989169"/>
            <a:ext cx="4680766" cy="3627859"/>
          </a:xfrm>
          <a:prstGeom prst="rect">
            <a:avLst/>
          </a:prstGeom>
          <a:noFill/>
          <a:ln w="9525">
            <a:noFill/>
            <a:headEnd/>
            <a:tailEnd/>
          </a:ln>
        </p:spPr>
      </p:pic>
      <p:sp>
        <p:nvSpPr>
          <p:cNvPr id="7" name="ZoneTexte 6">
            <a:extLst>
              <a:ext uri="{FF2B5EF4-FFF2-40B4-BE49-F238E27FC236}">
                <a16:creationId xmlns:a16="http://schemas.microsoft.com/office/drawing/2014/main" id="{25207AF9-C349-49E8-860D-E8EDD0DFF0C1}"/>
              </a:ext>
            </a:extLst>
          </p:cNvPr>
          <p:cNvSpPr txBox="1"/>
          <p:nvPr/>
        </p:nvSpPr>
        <p:spPr>
          <a:xfrm>
            <a:off x="7679614" y="1989169"/>
            <a:ext cx="1691898" cy="369332"/>
          </a:xfrm>
          <a:prstGeom prst="rect">
            <a:avLst/>
          </a:prstGeom>
          <a:noFill/>
        </p:spPr>
        <p:txBody>
          <a:bodyPr wrap="square">
            <a:spAutoFit/>
          </a:bodyPr>
          <a:lstStyle/>
          <a:p>
            <a:r>
              <a:rPr lang="en-US" sz="1800" b="1" dirty="0">
                <a:solidFill>
                  <a:srgbClr val="000000"/>
                </a:solidFill>
                <a:effectLst/>
                <a:latin typeface="Garamond" panose="02020404030301010803" pitchFamily="18" charset="0"/>
                <a:ea typeface="Cambria" panose="02040503050406030204" pitchFamily="18" charset="0"/>
                <a:cs typeface="Times New Roman" panose="02020603050405020304" pitchFamily="18" charset="0"/>
              </a:rPr>
              <a:t>Estimation</a:t>
            </a:r>
            <a:endParaRPr lang="en-US" b="1" dirty="0"/>
          </a:p>
        </p:txBody>
      </p:sp>
      <mc:AlternateContent xmlns:mc="http://schemas.openxmlformats.org/markup-compatibility/2006">
        <mc:Choice xmlns:a14="http://schemas.microsoft.com/office/drawing/2010/main" Requires="a14">
          <p:sp>
            <p:nvSpPr>
              <p:cNvPr id="13" name="ZoneTexte 12">
                <a:extLst>
                  <a:ext uri="{FF2B5EF4-FFF2-40B4-BE49-F238E27FC236}">
                    <a16:creationId xmlns:a16="http://schemas.microsoft.com/office/drawing/2014/main" id="{20907BCD-DA9B-49FE-B142-0E6716A4232D}"/>
                  </a:ext>
                </a:extLst>
              </p:cNvPr>
              <p:cNvSpPr txBox="1"/>
              <p:nvPr/>
            </p:nvSpPr>
            <p:spPr>
              <a:xfrm>
                <a:off x="5178674" y="2406619"/>
                <a:ext cx="6693778" cy="2893100"/>
              </a:xfrm>
              <a:prstGeom prst="rect">
                <a:avLst/>
              </a:prstGeom>
              <a:noFill/>
            </p:spPr>
            <p:txBody>
              <a:bodyPr wrap="square">
                <a:spAutoFit/>
              </a:bodyPr>
              <a:lstStyle/>
              <a:p>
                <a:pPr marL="0" marR="0">
                  <a:spcBef>
                    <a:spcPts val="0"/>
                  </a:spcBef>
                  <a:spcAft>
                    <a:spcPts val="0"/>
                  </a:spcAft>
                </a:pPr>
                <a:r>
                  <a:rPr lang="en-US" sz="1400" b="1" dirty="0">
                    <a:solidFill>
                      <a:srgbClr val="000000"/>
                    </a:solidFill>
                    <a:latin typeface="Garamond" panose="02020404030301010803" pitchFamily="18" charset="0"/>
                    <a:ea typeface="Cambria" panose="02040503050406030204" pitchFamily="18" charset="0"/>
                    <a:cs typeface="Times New Roman" panose="02020603050405020304" pitchFamily="18" charset="0"/>
                  </a:rPr>
                  <a:t>The traditional approach: </a:t>
                </a:r>
                <a:endParaRPr lang="en-US" sz="1400" b="1" dirty="0">
                  <a:solidFill>
                    <a:srgbClr val="000000"/>
                  </a:solidFill>
                  <a:effectLst/>
                  <a:latin typeface="Garamond" panose="02020404030301010803" pitchFamily="18" charset="0"/>
                  <a:ea typeface="Cambria" panose="02040503050406030204" pitchFamily="18" charset="0"/>
                  <a:cs typeface="Times New Roman" panose="02020603050405020304" pitchFamily="18" charset="0"/>
                </a:endParaRPr>
              </a:p>
              <a:p>
                <a:pPr marL="0" marR="0">
                  <a:spcBef>
                    <a:spcPts val="0"/>
                  </a:spcBef>
                  <a:spcAft>
                    <a:spcPts val="0"/>
                  </a:spcAft>
                </a:pPr>
                <a:r>
                  <a:rPr lang="en-US" sz="1400" dirty="0">
                    <a:solidFill>
                      <a:srgbClr val="000000"/>
                    </a:solidFill>
                    <a:effectLst/>
                    <a:latin typeface="Garamond" panose="02020404030301010803" pitchFamily="18" charset="0"/>
                    <a:ea typeface="Cambria" panose="02040503050406030204" pitchFamily="18" charset="0"/>
                    <a:cs typeface="Times New Roman" panose="02020603050405020304" pitchFamily="18" charset="0"/>
                  </a:rPr>
                  <a:t>The following model can be used to estimate the effect of the policy on the outcome y</a:t>
                </a:r>
                <a:endParaRPr lang="en-US" sz="1400" dirty="0">
                  <a:effectLst/>
                  <a:latin typeface="Cambria" panose="02040503050406030204" pitchFamily="18" charset="0"/>
                  <a:ea typeface="Cambria" panose="02040503050406030204" pitchFamily="18" charset="0"/>
                  <a:cs typeface="Times New Roman" panose="02020603050405020304" pitchFamily="18"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r>
                        <m:rPr>
                          <m:sty m:val="p"/>
                        </m:rPr>
                        <a:rPr lang="en-US" sz="1400">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y</m:t>
                      </m:r>
                      <m: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m:t>
                      </m:r>
                      <m: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𝛼</m:t>
                      </m:r>
                      <m: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m:t>
                      </m:r>
                      <m:sSub>
                        <m:sSubPr>
                          <m:ctrlP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𝛽</m:t>
                          </m:r>
                        </m:e>
                        <m:sub>
                          <m: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1</m:t>
                          </m:r>
                        </m:sub>
                      </m:sSub>
                      <m:d>
                        <m:dPr>
                          <m:ctrlP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ctrlPr>
                        </m:dPr>
                        <m:e>
                          <m:r>
                            <m:rPr>
                              <m:sty m:val="p"/>
                            </m:rPr>
                            <a:rPr lang="en-US" sz="1400">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year</m:t>
                          </m:r>
                        </m:e>
                      </m:d>
                      <m: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m:t>
                      </m:r>
                      <m:sSub>
                        <m:sSubPr>
                          <m:ctrlP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𝛽</m:t>
                          </m:r>
                        </m:e>
                        <m:sub>
                          <m: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2</m:t>
                          </m:r>
                        </m:sub>
                      </m:sSub>
                      <m:d>
                        <m:dPr>
                          <m:ctrlP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ctrlPr>
                        </m:dPr>
                        <m:e>
                          <m:r>
                            <m:rPr>
                              <m:sty m:val="p"/>
                            </m:rPr>
                            <a:rPr lang="en-US" sz="1400">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post</m:t>
                          </m:r>
                        </m:e>
                      </m:d>
                      <m: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m:t>
                      </m:r>
                      <m:sSub>
                        <m:sSubPr>
                          <m:ctrlP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𝛽</m:t>
                          </m:r>
                        </m:e>
                        <m:sub>
                          <m: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3</m:t>
                          </m:r>
                        </m:sub>
                      </m:sSub>
                      <m:d>
                        <m:dPr>
                          <m:ctrlP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ctrlPr>
                        </m:dPr>
                        <m:e>
                          <m:r>
                            <m:rPr>
                              <m:sty m:val="p"/>
                            </m:rPr>
                            <a:rPr lang="en-US" sz="1400">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xi</m:t>
                          </m:r>
                        </m:e>
                      </m:d>
                      <m: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m:t>
                      </m:r>
                      <m:sSub>
                        <m:sSubPr>
                          <m:ctrlP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𝛽</m:t>
                          </m:r>
                        </m:e>
                        <m:sub>
                          <m: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4</m:t>
                          </m:r>
                        </m:sub>
                      </m:sSub>
                      <m:d>
                        <m:dPr>
                          <m:ctrlP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ctrlPr>
                        </m:dPr>
                        <m:e>
                          <m:r>
                            <m:rPr>
                              <m:sty m:val="p"/>
                            </m:rPr>
                            <a:rPr lang="en-US" sz="1400">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xt</m:t>
                          </m:r>
                        </m:e>
                      </m:d>
                      <m: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m:t>
                      </m:r>
                      <m:sSub>
                        <m:sSubPr>
                          <m:ctrlP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𝛽</m:t>
                          </m:r>
                        </m:e>
                        <m:sub>
                          <m: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5</m:t>
                          </m:r>
                        </m:sub>
                      </m:sSub>
                      <m:d>
                        <m:dPr>
                          <m:ctrlP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ctrlPr>
                        </m:dPr>
                        <m:e>
                          <m:r>
                            <m:rPr>
                              <m:sty m:val="p"/>
                            </m:rPr>
                            <a:rPr lang="en-US" sz="1400">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xit</m:t>
                          </m:r>
                        </m:e>
                      </m:d>
                      <m: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m:t>
                      </m:r>
                      <m:sSub>
                        <m:sSubPr>
                          <m:ctrlP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𝛽</m:t>
                          </m:r>
                        </m:e>
                        <m:sub>
                          <m: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6</m:t>
                          </m:r>
                        </m:sub>
                      </m:sSub>
                      <m:d>
                        <m:dPr>
                          <m:ctrlP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ctrlPr>
                        </m:dPr>
                        <m:e>
                          <m:r>
                            <m:rPr>
                              <m:sty m:val="p"/>
                            </m:rPr>
                            <a:rPr lang="en-US" sz="1400">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year</m:t>
                          </m:r>
                          <m: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m:t>
                          </m:r>
                          <m:r>
                            <m:rPr>
                              <m:sty m:val="p"/>
                            </m:rPr>
                            <a:rPr lang="en-US" sz="1400">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post</m:t>
                          </m:r>
                        </m:e>
                      </m:d>
                      <m: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m:t>
                      </m:r>
                      <m:r>
                        <a:rPr lang="en-US" sz="1400" i="1">
                          <a:solidFill>
                            <a:srgbClr val="000000"/>
                          </a:solidFill>
                          <a:effectLst/>
                          <a:latin typeface="Cambria Math" panose="02040503050406030204" pitchFamily="18" charset="0"/>
                          <a:ea typeface="Cambria" panose="02040503050406030204" pitchFamily="18" charset="0"/>
                          <a:cs typeface="Times New Roman" panose="02020603050405020304" pitchFamily="18" charset="0"/>
                        </a:rPr>
                        <m:t>𝜖</m:t>
                      </m:r>
                    </m:oMath>
                  </m:oMathPara>
                </a14:m>
                <a:endParaRPr lang="en-US" sz="1400" dirty="0">
                  <a:solidFill>
                    <a:srgbClr val="000000"/>
                  </a:solidFill>
                  <a:effectLst/>
                  <a:latin typeface="Cambria" panose="02040503050406030204" pitchFamily="18" charset="0"/>
                  <a:ea typeface="Cambria" panose="02040503050406030204" pitchFamily="18" charset="0"/>
                  <a:cs typeface="Times New Roman" panose="02020603050405020304" pitchFamily="18" charset="0"/>
                </a:endParaRPr>
              </a:p>
              <a:p>
                <a:pPr marL="0" marR="0">
                  <a:spcBef>
                    <a:spcPts val="0"/>
                  </a:spcBef>
                  <a:spcAft>
                    <a:spcPts val="0"/>
                  </a:spcAft>
                </a:pPr>
                <a:endParaRPr lang="en-US" sz="1400" dirty="0">
                  <a:effectLst/>
                  <a:latin typeface="Cambria" panose="02040503050406030204" pitchFamily="18" charset="0"/>
                  <a:ea typeface="Cambria" panose="02040503050406030204" pitchFamily="18" charset="0"/>
                  <a:cs typeface="Times New Roman" panose="02020603050405020304" pitchFamily="18" charset="0"/>
                </a:endParaRPr>
              </a:p>
              <a:p>
                <a:pPr marL="0" marR="0">
                  <a:spcBef>
                    <a:spcPts val="0"/>
                  </a:spcBef>
                  <a:spcAft>
                    <a:spcPts val="0"/>
                  </a:spcAft>
                </a:pPr>
                <a:endParaRPr lang="en-US" sz="1400" dirty="0">
                  <a:latin typeface="Cambria" panose="02040503050406030204" pitchFamily="18" charset="0"/>
                  <a:ea typeface="Cambria" panose="02040503050406030204" pitchFamily="18" charset="0"/>
                  <a:cs typeface="Times New Roman" panose="02020603050405020304" pitchFamily="18" charset="0"/>
                </a:endParaRPr>
              </a:p>
              <a:p>
                <a:pPr marL="0" marR="0">
                  <a:spcBef>
                    <a:spcPts val="0"/>
                  </a:spcBef>
                  <a:spcAft>
                    <a:spcPts val="0"/>
                  </a:spcAft>
                </a:pPr>
                <a:endParaRPr lang="en-US" sz="1400" b="1" dirty="0">
                  <a:effectLst/>
                  <a:latin typeface="Cambria" panose="02040503050406030204" pitchFamily="18" charset="0"/>
                  <a:ea typeface="Cambria" panose="02040503050406030204" pitchFamily="18" charset="0"/>
                  <a:cs typeface="Times New Roman" panose="02020603050405020304" pitchFamily="18" charset="0"/>
                </a:endParaRPr>
              </a:p>
              <a:p>
                <a:pPr marL="0" marR="0">
                  <a:spcBef>
                    <a:spcPts val="0"/>
                  </a:spcBef>
                  <a:spcAft>
                    <a:spcPts val="0"/>
                  </a:spcAft>
                </a:pPr>
                <a:r>
                  <a:rPr lang="en-US" sz="1400" b="1" dirty="0">
                    <a:effectLst/>
                    <a:latin typeface="Cambria" panose="02040503050406030204" pitchFamily="18" charset="0"/>
                    <a:ea typeface="Cambria" panose="02040503050406030204" pitchFamily="18" charset="0"/>
                    <a:cs typeface="Times New Roman" panose="02020603050405020304" pitchFamily="18" charset="0"/>
                  </a:rPr>
                  <a:t>Can be also done through a 2-stage approach:</a:t>
                </a:r>
              </a:p>
              <a:p>
                <a:pPr marL="342900" marR="0" indent="-342900">
                  <a:spcBef>
                    <a:spcPts val="0"/>
                  </a:spcBef>
                  <a:spcAft>
                    <a:spcPts val="0"/>
                  </a:spcAft>
                  <a:buFont typeface="+mj-lt"/>
                  <a:buAutoNum type="arabicPeriod"/>
                </a:pPr>
                <a:r>
                  <a:rPr lang="en-US" sz="1400" dirty="0">
                    <a:latin typeface="Cambria" panose="02040503050406030204" pitchFamily="18" charset="0"/>
                    <a:ea typeface="Cambria" panose="02040503050406030204" pitchFamily="18" charset="0"/>
                    <a:cs typeface="Times New Roman" panose="02020603050405020304" pitchFamily="18" charset="0"/>
                  </a:rPr>
                  <a:t>Building and optimizing a predictive model for Y in the pre-treatment period</a:t>
                </a:r>
              </a:p>
              <a:p>
                <a:pPr marL="342900" marR="0" indent="-342900">
                  <a:spcBef>
                    <a:spcPts val="0"/>
                  </a:spcBef>
                  <a:spcAft>
                    <a:spcPts val="0"/>
                  </a:spcAft>
                  <a:buFont typeface="+mj-lt"/>
                  <a:buAutoNum type="arabicPeriod"/>
                </a:pPr>
                <a:r>
                  <a:rPr lang="en-US" sz="1400" dirty="0">
                    <a:effectLst/>
                    <a:latin typeface="Cambria" panose="02040503050406030204" pitchFamily="18" charset="0"/>
                    <a:ea typeface="Cambria" panose="02040503050406030204" pitchFamily="18" charset="0"/>
                    <a:cs typeface="Times New Roman" panose="02020603050405020304" pitchFamily="18" charset="0"/>
                  </a:rPr>
                  <a:t>Predicting </a:t>
                </a:r>
                <a:r>
                  <a:rPr lang="en-US" sz="1400" i="1" dirty="0">
                    <a:effectLst/>
                    <a:latin typeface="Cambria" panose="02040503050406030204" pitchFamily="18" charset="0"/>
                    <a:ea typeface="Cambria" panose="02040503050406030204" pitchFamily="18" charset="0"/>
                    <a:cs typeface="Times New Roman" panose="02020603050405020304" pitchFamily="18" charset="0"/>
                  </a:rPr>
                  <a:t>Y</a:t>
                </a:r>
                <a:r>
                  <a:rPr lang="en-US" sz="1400" dirty="0">
                    <a:effectLst/>
                    <a:latin typeface="Cambria" panose="02040503050406030204" pitchFamily="18" charset="0"/>
                    <a:ea typeface="Cambria" panose="02040503050406030204" pitchFamily="18" charset="0"/>
                    <a:cs typeface="Times New Roman" panose="02020603050405020304" pitchFamily="18" charset="0"/>
                  </a:rPr>
                  <a:t> in the post-treatment </a:t>
                </a:r>
                <a:r>
                  <a:rPr lang="en-US" sz="1400" dirty="0">
                    <a:latin typeface="Cambria" panose="02040503050406030204" pitchFamily="18" charset="0"/>
                    <a:ea typeface="Cambria" panose="02040503050406030204" pitchFamily="18" charset="0"/>
                    <a:cs typeface="Times New Roman" panose="02020603050405020304" pitchFamily="18" charset="0"/>
                  </a:rPr>
                  <a:t>period </a:t>
                </a:r>
                <a:r>
                  <a:rPr lang="en-US" sz="1400" dirty="0">
                    <a:effectLst/>
                    <a:latin typeface="Cambria" panose="02040503050406030204" pitchFamily="18" charset="0"/>
                    <a:ea typeface="Cambria" panose="02040503050406030204" pitchFamily="18" charset="0"/>
                    <a:cs typeface="Times New Roman" panose="02020603050405020304" pitchFamily="18" charset="0"/>
                  </a:rPr>
                  <a:t>using the model developed in stage 1 and compare with observed outcomes</a:t>
                </a:r>
              </a:p>
              <a:p>
                <a:pPr marL="342900" marR="0" indent="-342900">
                  <a:spcBef>
                    <a:spcPts val="0"/>
                  </a:spcBef>
                  <a:spcAft>
                    <a:spcPts val="0"/>
                  </a:spcAft>
                  <a:buFont typeface="+mj-lt"/>
                  <a:buAutoNum type="arabicPeriod"/>
                </a:pPr>
                <a:endParaRPr lang="en-US" sz="1400" dirty="0">
                  <a:latin typeface="Cambria" panose="02040503050406030204" pitchFamily="18" charset="0"/>
                  <a:ea typeface="Cambria" panose="02040503050406030204" pitchFamily="18" charset="0"/>
                  <a:cs typeface="Times New Roman" panose="02020603050405020304" pitchFamily="18" charset="0"/>
                </a:endParaRPr>
              </a:p>
              <a:p>
                <a:pPr marR="0">
                  <a:spcBef>
                    <a:spcPts val="0"/>
                  </a:spcBef>
                  <a:spcAft>
                    <a:spcPts val="0"/>
                  </a:spcAft>
                </a:pPr>
                <a:r>
                  <a:rPr lang="en-US" sz="1400" dirty="0">
                    <a:effectLst/>
                    <a:latin typeface="Cambria" panose="02040503050406030204" pitchFamily="18" charset="0"/>
                    <a:ea typeface="Cambria" panose="02040503050406030204" pitchFamily="18" charset="0"/>
                    <a:cs typeface="Times New Roman" panose="02020603050405020304" pitchFamily="18" charset="0"/>
                  </a:rPr>
                  <a:t>Various approaches can be used for stage 1 (ARIMA, random forest, and other ML algorithms)</a:t>
                </a:r>
              </a:p>
            </p:txBody>
          </p:sp>
        </mc:Choice>
        <mc:Fallback>
          <p:sp>
            <p:nvSpPr>
              <p:cNvPr id="13" name="ZoneTexte 12">
                <a:extLst>
                  <a:ext uri="{FF2B5EF4-FFF2-40B4-BE49-F238E27FC236}">
                    <a16:creationId xmlns:a16="http://schemas.microsoft.com/office/drawing/2014/main" id="{20907BCD-DA9B-49FE-B142-0E6716A4232D}"/>
                  </a:ext>
                </a:extLst>
              </p:cNvPr>
              <p:cNvSpPr txBox="1">
                <a:spLocks noRot="1" noChangeAspect="1" noMove="1" noResize="1" noEditPoints="1" noAdjustHandles="1" noChangeArrowheads="1" noChangeShapeType="1" noTextEdit="1"/>
              </p:cNvSpPr>
              <p:nvPr/>
            </p:nvSpPr>
            <p:spPr>
              <a:xfrm>
                <a:off x="5178674" y="2406619"/>
                <a:ext cx="6693778" cy="2893100"/>
              </a:xfrm>
              <a:prstGeom prst="rect">
                <a:avLst/>
              </a:prstGeom>
              <a:blipFill>
                <a:blip r:embed="rId3"/>
                <a:stretch>
                  <a:fillRect l="-273" t="-422" b="-1055"/>
                </a:stretch>
              </a:blipFill>
            </p:spPr>
            <p:txBody>
              <a:bodyPr/>
              <a:lstStyle/>
              <a:p>
                <a:r>
                  <a:rPr lang="en-US">
                    <a:noFill/>
                  </a:rPr>
                  <a:t> </a:t>
                </a:r>
              </a:p>
            </p:txBody>
          </p:sp>
        </mc:Fallback>
      </mc:AlternateContent>
    </p:spTree>
    <p:extLst>
      <p:ext uri="{BB962C8B-B14F-4D97-AF65-F5344CB8AC3E}">
        <p14:creationId xmlns:p14="http://schemas.microsoft.com/office/powerpoint/2010/main" val="1094089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2F69B01-ED20-4A0C-808C-EE51CC8067D8}"/>
              </a:ext>
            </a:extLst>
          </p:cNvPr>
          <p:cNvSpPr>
            <a:spLocks noGrp="1"/>
          </p:cNvSpPr>
          <p:nvPr>
            <p:ph type="title"/>
          </p:nvPr>
        </p:nvSpPr>
        <p:spPr>
          <a:xfrm>
            <a:off x="629157" y="227457"/>
            <a:ext cx="10058400" cy="1609344"/>
          </a:xfrm>
        </p:spPr>
        <p:txBody>
          <a:bodyPr/>
          <a:lstStyle/>
          <a:p>
            <a:r>
              <a:rPr lang="en-US" dirty="0"/>
              <a:t>ITS examples</a:t>
            </a:r>
          </a:p>
        </p:txBody>
      </p:sp>
      <p:pic>
        <p:nvPicPr>
          <p:cNvPr id="5" name="Image 4">
            <a:extLst>
              <a:ext uri="{FF2B5EF4-FFF2-40B4-BE49-F238E27FC236}">
                <a16:creationId xmlns:a16="http://schemas.microsoft.com/office/drawing/2014/main" id="{DAF6E2DC-710C-4FEC-B832-807F27C15EDA}"/>
              </a:ext>
            </a:extLst>
          </p:cNvPr>
          <p:cNvPicPr>
            <a:picLocks noChangeAspect="1"/>
          </p:cNvPicPr>
          <p:nvPr/>
        </p:nvPicPr>
        <p:blipFill>
          <a:blip r:embed="rId2"/>
          <a:stretch>
            <a:fillRect/>
          </a:stretch>
        </p:blipFill>
        <p:spPr>
          <a:xfrm>
            <a:off x="0" y="3262315"/>
            <a:ext cx="5151708" cy="1582060"/>
          </a:xfrm>
          <a:prstGeom prst="rect">
            <a:avLst/>
          </a:prstGeom>
        </p:spPr>
      </p:pic>
      <p:pic>
        <p:nvPicPr>
          <p:cNvPr id="7" name="Image 6">
            <a:extLst>
              <a:ext uri="{FF2B5EF4-FFF2-40B4-BE49-F238E27FC236}">
                <a16:creationId xmlns:a16="http://schemas.microsoft.com/office/drawing/2014/main" id="{F3A6590F-7168-44DB-B96A-B991A9891AC1}"/>
              </a:ext>
            </a:extLst>
          </p:cNvPr>
          <p:cNvPicPr>
            <a:picLocks noChangeAspect="1"/>
          </p:cNvPicPr>
          <p:nvPr/>
        </p:nvPicPr>
        <p:blipFill>
          <a:blip r:embed="rId3"/>
          <a:stretch>
            <a:fillRect/>
          </a:stretch>
        </p:blipFill>
        <p:spPr>
          <a:xfrm>
            <a:off x="0" y="1919876"/>
            <a:ext cx="5284348" cy="1176721"/>
          </a:xfrm>
          <a:prstGeom prst="rect">
            <a:avLst/>
          </a:prstGeom>
        </p:spPr>
      </p:pic>
      <p:pic>
        <p:nvPicPr>
          <p:cNvPr id="9" name="Image 8">
            <a:extLst>
              <a:ext uri="{FF2B5EF4-FFF2-40B4-BE49-F238E27FC236}">
                <a16:creationId xmlns:a16="http://schemas.microsoft.com/office/drawing/2014/main" id="{0D54659C-1CBD-4D3F-BFDF-89DE828AEA3F}"/>
              </a:ext>
            </a:extLst>
          </p:cNvPr>
          <p:cNvPicPr>
            <a:picLocks noChangeAspect="1"/>
          </p:cNvPicPr>
          <p:nvPr/>
        </p:nvPicPr>
        <p:blipFill>
          <a:blip r:embed="rId4"/>
          <a:stretch>
            <a:fillRect/>
          </a:stretch>
        </p:blipFill>
        <p:spPr>
          <a:xfrm>
            <a:off x="5899724" y="3096597"/>
            <a:ext cx="4928714" cy="3022101"/>
          </a:xfrm>
          <a:prstGeom prst="rect">
            <a:avLst/>
          </a:prstGeom>
        </p:spPr>
      </p:pic>
      <p:pic>
        <p:nvPicPr>
          <p:cNvPr id="11" name="Image 10">
            <a:extLst>
              <a:ext uri="{FF2B5EF4-FFF2-40B4-BE49-F238E27FC236}">
                <a16:creationId xmlns:a16="http://schemas.microsoft.com/office/drawing/2014/main" id="{DF672EE8-B18D-42B0-A72B-D131C94ACFC6}"/>
              </a:ext>
            </a:extLst>
          </p:cNvPr>
          <p:cNvPicPr>
            <a:picLocks noChangeAspect="1"/>
          </p:cNvPicPr>
          <p:nvPr/>
        </p:nvPicPr>
        <p:blipFill>
          <a:blip r:embed="rId5"/>
          <a:stretch>
            <a:fillRect/>
          </a:stretch>
        </p:blipFill>
        <p:spPr>
          <a:xfrm>
            <a:off x="5899724" y="1424595"/>
            <a:ext cx="5663119" cy="1469181"/>
          </a:xfrm>
          <a:prstGeom prst="rect">
            <a:avLst/>
          </a:prstGeom>
        </p:spPr>
      </p:pic>
    </p:spTree>
    <p:extLst>
      <p:ext uri="{BB962C8B-B14F-4D97-AF65-F5344CB8AC3E}">
        <p14:creationId xmlns:p14="http://schemas.microsoft.com/office/powerpoint/2010/main" val="14048220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95BA30-9303-4835-A316-D9F0D169C014}"/>
              </a:ext>
            </a:extLst>
          </p:cNvPr>
          <p:cNvSpPr>
            <a:spLocks noGrp="1"/>
          </p:cNvSpPr>
          <p:nvPr>
            <p:ph type="title"/>
          </p:nvPr>
        </p:nvSpPr>
        <p:spPr/>
        <p:txBody>
          <a:bodyPr/>
          <a:lstStyle/>
          <a:p>
            <a:r>
              <a:rPr lang="en-US" dirty="0"/>
              <a:t>Controlled ITS or DID?</a:t>
            </a:r>
          </a:p>
        </p:txBody>
      </p:sp>
      <p:sp>
        <p:nvSpPr>
          <p:cNvPr id="3" name="Espace réservé du contenu 2">
            <a:extLst>
              <a:ext uri="{FF2B5EF4-FFF2-40B4-BE49-F238E27FC236}">
                <a16:creationId xmlns:a16="http://schemas.microsoft.com/office/drawing/2014/main" id="{49F3B4D4-4509-43A3-A714-E56B045DC384}"/>
              </a:ext>
            </a:extLst>
          </p:cNvPr>
          <p:cNvSpPr>
            <a:spLocks noGrp="1"/>
          </p:cNvSpPr>
          <p:nvPr>
            <p:ph idx="1"/>
          </p:nvPr>
        </p:nvSpPr>
        <p:spPr/>
        <p:txBody>
          <a:bodyPr>
            <a:normAutofit/>
          </a:bodyPr>
          <a:lstStyle/>
          <a:p>
            <a:r>
              <a:rPr lang="en-US" sz="2800" dirty="0"/>
              <a:t>When using one (or more) control </a:t>
            </a:r>
            <a:r>
              <a:rPr lang="en-US" sz="2800" dirty="0" err="1"/>
              <a:t>group.s</a:t>
            </a:r>
            <a:r>
              <a:rPr lang="en-US" sz="2800" dirty="0"/>
              <a:t>, there is no fundamental distinction between Controlled ITS and DID models </a:t>
            </a:r>
          </a:p>
          <a:p>
            <a:r>
              <a:rPr lang="en-US" sz="2800" dirty="0"/>
              <a:t>They yield the same counterfactuals and identify the same treatment effects.</a:t>
            </a:r>
          </a:p>
          <a:p>
            <a:r>
              <a:rPr lang="en-US" sz="2800" dirty="0"/>
              <a:t>The terminology simply varies across disciplines </a:t>
            </a:r>
          </a:p>
        </p:txBody>
      </p:sp>
      <p:sp>
        <p:nvSpPr>
          <p:cNvPr id="5" name="ZoneTexte 4">
            <a:extLst>
              <a:ext uri="{FF2B5EF4-FFF2-40B4-BE49-F238E27FC236}">
                <a16:creationId xmlns:a16="http://schemas.microsoft.com/office/drawing/2014/main" id="{A89FD587-776B-48CB-A822-9BE8B4AE866C}"/>
              </a:ext>
            </a:extLst>
          </p:cNvPr>
          <p:cNvSpPr txBox="1"/>
          <p:nvPr/>
        </p:nvSpPr>
        <p:spPr>
          <a:xfrm>
            <a:off x="168401" y="5934670"/>
            <a:ext cx="9728074" cy="923330"/>
          </a:xfrm>
          <a:prstGeom prst="rect">
            <a:avLst/>
          </a:prstGeom>
          <a:noFill/>
        </p:spPr>
        <p:txBody>
          <a:bodyPr wrap="square">
            <a:spAutoFit/>
          </a:bodyPr>
          <a:lstStyle/>
          <a:p>
            <a:r>
              <a:rPr lang="en-US" b="0" i="0" dirty="0">
                <a:solidFill>
                  <a:srgbClr val="222222"/>
                </a:solidFill>
                <a:effectLst/>
                <a:latin typeface="Arial" panose="020B0604020202020204" pitchFamily="34" charset="0"/>
              </a:rPr>
              <a:t>Fry, C. E., &amp; Hatfield, L. A. Birds of a feather flock together: Comparing controlled pre–post designs. </a:t>
            </a:r>
            <a:r>
              <a:rPr lang="en-US" b="0" i="1" dirty="0">
                <a:solidFill>
                  <a:srgbClr val="222222"/>
                </a:solidFill>
                <a:effectLst/>
                <a:latin typeface="Arial" panose="020B0604020202020204" pitchFamily="34" charset="0"/>
              </a:rPr>
              <a:t>Health Services Research</a:t>
            </a:r>
            <a:r>
              <a:rPr lang="en-US" b="0" i="0" dirty="0">
                <a:solidFill>
                  <a:srgbClr val="222222"/>
                </a:solidFill>
                <a:effectLst/>
                <a:latin typeface="Arial" panose="020B0604020202020204" pitchFamily="34" charset="0"/>
              </a:rPr>
              <a:t>. </a:t>
            </a:r>
            <a:r>
              <a:rPr lang="en-US" b="0" i="0" dirty="0">
                <a:solidFill>
                  <a:srgbClr val="222222"/>
                </a:solidFill>
                <a:effectLst/>
                <a:latin typeface="Arial" panose="020B0604020202020204" pitchFamily="34" charset="0"/>
                <a:hlinkClick r:id="rId2"/>
              </a:rPr>
              <a:t>https://onlinelibrary.wiley.com/doi/epdf/10.1111/1475-6773.13697</a:t>
            </a:r>
            <a:r>
              <a:rPr lang="en-US" b="0" i="0" dirty="0">
                <a:solidFill>
                  <a:srgbClr val="222222"/>
                </a:solidFill>
                <a:effectLst/>
                <a:latin typeface="Arial" panose="020B0604020202020204" pitchFamily="34" charset="0"/>
              </a:rPr>
              <a:t> </a:t>
            </a:r>
            <a:endParaRPr lang="en-US" dirty="0"/>
          </a:p>
        </p:txBody>
      </p:sp>
    </p:spTree>
    <p:extLst>
      <p:ext uri="{BB962C8B-B14F-4D97-AF65-F5344CB8AC3E}">
        <p14:creationId xmlns:p14="http://schemas.microsoft.com/office/powerpoint/2010/main" val="25440056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5889" y="2535309"/>
            <a:ext cx="10058400" cy="1609344"/>
          </a:xfrm>
        </p:spPr>
        <p:txBody>
          <a:bodyPr/>
          <a:lstStyle/>
          <a:p>
            <a:r>
              <a:rPr lang="en-US" dirty="0"/>
              <a:t>synthetic control methods</a:t>
            </a:r>
          </a:p>
        </p:txBody>
      </p:sp>
    </p:spTree>
    <p:extLst>
      <p:ext uri="{BB962C8B-B14F-4D97-AF65-F5344CB8AC3E}">
        <p14:creationId xmlns:p14="http://schemas.microsoft.com/office/powerpoint/2010/main" val="12749965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7665" y="-70951"/>
            <a:ext cx="10058400" cy="1609344"/>
          </a:xfrm>
        </p:spPr>
        <p:txBody>
          <a:bodyPr/>
          <a:lstStyle/>
          <a:p>
            <a:r>
              <a:rPr lang="en-US" dirty="0"/>
              <a:t>The intuition</a:t>
            </a:r>
          </a:p>
        </p:txBody>
      </p:sp>
      <p:sp>
        <p:nvSpPr>
          <p:cNvPr id="3" name="Content Placeholder 2"/>
          <p:cNvSpPr>
            <a:spLocks noGrp="1"/>
          </p:cNvSpPr>
          <p:nvPr>
            <p:ph idx="1"/>
          </p:nvPr>
        </p:nvSpPr>
        <p:spPr>
          <a:xfrm>
            <a:off x="323537" y="1120006"/>
            <a:ext cx="10058400" cy="4050792"/>
          </a:xfrm>
        </p:spPr>
        <p:txBody>
          <a:bodyPr/>
          <a:lstStyle/>
          <a:p>
            <a:r>
              <a:rPr lang="en-US" dirty="0"/>
              <a:t>When using a DID, it is sometimes difficult to establish whether the parallel trends assumption is met and whether the control group is a sufficiently accurate representation of what would have happened in the treated area without the intervention</a:t>
            </a:r>
          </a:p>
          <a:p>
            <a:r>
              <a:rPr lang="en-US" dirty="0"/>
              <a:t>Synthetic control methodology (SCM) allows the construction of a counterfactual by selecting a </a:t>
            </a:r>
            <a:r>
              <a:rPr lang="en-US" b="1" u="sng" dirty="0"/>
              <a:t>weighted average</a:t>
            </a:r>
            <a:r>
              <a:rPr lang="en-US" dirty="0"/>
              <a:t> of the outcome variable from a group of units similar to the treated unit</a:t>
            </a:r>
          </a:p>
          <a:p>
            <a:r>
              <a:rPr lang="en-US" dirty="0"/>
              <a:t>The intuition behind this method using the original paper by Abadie et al. 2010</a:t>
            </a:r>
          </a:p>
          <a:p>
            <a:endParaRPr lang="en-US" dirty="0"/>
          </a:p>
          <a:p>
            <a:endParaRPr lang="en-US" dirty="0"/>
          </a:p>
        </p:txBody>
      </p:sp>
      <p:pic>
        <p:nvPicPr>
          <p:cNvPr id="4" name="Picture 3"/>
          <p:cNvPicPr>
            <a:picLocks noChangeAspect="1"/>
          </p:cNvPicPr>
          <p:nvPr/>
        </p:nvPicPr>
        <p:blipFill>
          <a:blip r:embed="rId2"/>
          <a:stretch>
            <a:fillRect/>
          </a:stretch>
        </p:blipFill>
        <p:spPr>
          <a:xfrm>
            <a:off x="5150871" y="3724835"/>
            <a:ext cx="3597195" cy="3080674"/>
          </a:xfrm>
          <a:prstGeom prst="rect">
            <a:avLst/>
          </a:prstGeom>
        </p:spPr>
      </p:pic>
      <p:pic>
        <p:nvPicPr>
          <p:cNvPr id="5" name="Picture 4"/>
          <p:cNvPicPr>
            <a:picLocks noChangeAspect="1"/>
          </p:cNvPicPr>
          <p:nvPr/>
        </p:nvPicPr>
        <p:blipFill>
          <a:blip r:embed="rId3"/>
          <a:stretch>
            <a:fillRect/>
          </a:stretch>
        </p:blipFill>
        <p:spPr>
          <a:xfrm>
            <a:off x="751144" y="3899647"/>
            <a:ext cx="3716047" cy="2841318"/>
          </a:xfrm>
          <a:prstGeom prst="rect">
            <a:avLst/>
          </a:prstGeom>
        </p:spPr>
      </p:pic>
    </p:spTree>
    <p:extLst>
      <p:ext uri="{BB962C8B-B14F-4D97-AF65-F5344CB8AC3E}">
        <p14:creationId xmlns:p14="http://schemas.microsoft.com/office/powerpoint/2010/main" val="2485882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33905E-CFF7-4D94-8AC4-DBC746BFD07E}"/>
              </a:ext>
            </a:extLst>
          </p:cNvPr>
          <p:cNvSpPr>
            <a:spLocks noGrp="1"/>
          </p:cNvSpPr>
          <p:nvPr>
            <p:ph type="title"/>
          </p:nvPr>
        </p:nvSpPr>
        <p:spPr/>
        <p:txBody>
          <a:bodyPr/>
          <a:lstStyle/>
          <a:p>
            <a:r>
              <a:rPr lang="en-US" dirty="0"/>
              <a:t>How Does it work?</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A320D40B-BA75-4FF2-983C-F808AAB0749C}"/>
                  </a:ext>
                </a:extLst>
              </p:cNvPr>
              <p:cNvSpPr>
                <a:spLocks noGrp="1"/>
              </p:cNvSpPr>
              <p:nvPr>
                <p:ph idx="1"/>
              </p:nvPr>
            </p:nvSpPr>
            <p:spPr>
              <a:xfrm>
                <a:off x="600075" y="1779651"/>
                <a:ext cx="10801350" cy="4668774"/>
              </a:xfrm>
            </p:spPr>
            <p:txBody>
              <a:bodyPr>
                <a:normAutofit/>
              </a:bodyPr>
              <a:lstStyle/>
              <a:p>
                <a:r>
                  <a:rPr lang="en-US" dirty="0">
                    <a:effectLst/>
                    <a:ea typeface="Calibri" panose="020F0502020204030204" pitchFamily="34" charset="0"/>
                    <a:cs typeface="Calibri" panose="020F0502020204030204" pitchFamily="34" charset="0"/>
                  </a:rPr>
                  <a:t>The synthetic control is based on the vector of weights </a:t>
                </a:r>
                <a:r>
                  <a:rPr lang="en-US" b="1" dirty="0">
                    <a:effectLst/>
                    <a:ea typeface="Calibri" panose="020F0502020204030204" pitchFamily="34" charset="0"/>
                    <a:cs typeface="Calibri" panose="020F0502020204030204" pitchFamily="34" charset="0"/>
                  </a:rPr>
                  <a:t>W</a:t>
                </a:r>
                <a:r>
                  <a:rPr lang="en-US" dirty="0">
                    <a:effectLst/>
                    <a:ea typeface="Calibri" panose="020F0502020204030204" pitchFamily="34" charset="0"/>
                    <a:cs typeface="Calibri" panose="020F0502020204030204" pitchFamily="34" charset="0"/>
                  </a:rPr>
                  <a:t> that minimizes the imbalance between the treated unit and a weighted average of the controls across a set of variables </a:t>
                </a:r>
                <a:r>
                  <a:rPr lang="en-US" b="1" dirty="0">
                    <a:effectLst/>
                    <a:ea typeface="Calibri" panose="020F0502020204030204" pitchFamily="34" charset="0"/>
                    <a:cs typeface="Calibri" panose="020F0502020204030204" pitchFamily="34" charset="0"/>
                  </a:rPr>
                  <a:t>X</a:t>
                </a:r>
                <a:r>
                  <a:rPr lang="en-US" dirty="0">
                    <a:effectLst/>
                    <a:ea typeface="Calibri" panose="020F0502020204030204" pitchFamily="34" charset="0"/>
                    <a:cs typeface="Calibri" panose="020F0502020204030204" pitchFamily="34" charset="0"/>
                  </a:rPr>
                  <a:t> (e.g. pre-intervention outcomes and/or covariates), </a:t>
                </a:r>
                <a14:m>
                  <m:oMath xmlns:m="http://schemas.openxmlformats.org/officeDocument/2006/math">
                    <m:sSup>
                      <m:sSupPr>
                        <m:ctrlPr>
                          <a:rPr lang="en-US" i="1">
                            <a:effectLst/>
                            <a:latin typeface="Cambria Math" panose="02040503050406030204" pitchFamily="18" charset="0"/>
                            <a:ea typeface="Calibri" panose="020F0502020204030204" pitchFamily="34" charset="0"/>
                            <a:cs typeface="Calibri" panose="020F0502020204030204" pitchFamily="34" charset="0"/>
                          </a:rPr>
                        </m:ctrlPr>
                      </m:sSupPr>
                      <m:e>
                        <m:d>
                          <m:dPr>
                            <m:ctrlPr>
                              <a:rPr lang="en-US" sz="2400" i="1" smtClean="0">
                                <a:effectLst/>
                                <a:latin typeface="Cambria Math" panose="02040503050406030204" pitchFamily="18" charset="0"/>
                                <a:ea typeface="Calibri" panose="020F0502020204030204" pitchFamily="34" charset="0"/>
                                <a:cs typeface="Calibri" panose="020F0502020204030204" pitchFamily="34" charset="0"/>
                              </a:rPr>
                            </m:ctrlPr>
                          </m:dPr>
                          <m:e>
                            <m:sSub>
                              <m:sSubPr>
                                <m:ctrlPr>
                                  <a:rPr lang="en-US" sz="2400" i="1">
                                    <a:effectLst/>
                                    <a:latin typeface="Cambria Math" panose="02040503050406030204" pitchFamily="18" charset="0"/>
                                    <a:ea typeface="Calibri" panose="020F0502020204030204" pitchFamily="34" charset="0"/>
                                    <a:cs typeface="Calibri" panose="020F0502020204030204" pitchFamily="34" charset="0"/>
                                  </a:rPr>
                                </m:ctrlPr>
                              </m:sSubPr>
                              <m:e>
                                <m:r>
                                  <a:rPr lang="en-US" i="1">
                                    <a:effectLst/>
                                    <a:latin typeface="Cambria Math" panose="02040503050406030204" pitchFamily="18" charset="0"/>
                                    <a:ea typeface="Calibri" panose="020F0502020204030204" pitchFamily="34" charset="0"/>
                                    <a:cs typeface="Calibri" panose="020F0502020204030204" pitchFamily="34" charset="0"/>
                                  </a:rPr>
                                  <m:t>𝑋</m:t>
                                </m:r>
                              </m:e>
                              <m:sub>
                                <m:r>
                                  <a:rPr lang="en-US" i="1">
                                    <a:effectLst/>
                                    <a:latin typeface="Cambria Math" panose="02040503050406030204" pitchFamily="18" charset="0"/>
                                    <a:ea typeface="Calibri" panose="020F0502020204030204" pitchFamily="34" charset="0"/>
                                    <a:cs typeface="Calibri" panose="020F0502020204030204" pitchFamily="34" charset="0"/>
                                  </a:rPr>
                                  <m:t>1</m:t>
                                </m:r>
                              </m:sub>
                            </m:sSub>
                            <m:r>
                              <a:rPr lang="en-US" i="1">
                                <a:effectLst/>
                                <a:latin typeface="Cambria Math" panose="02040503050406030204" pitchFamily="18" charset="0"/>
                                <a:ea typeface="Calibri" panose="020F0502020204030204" pitchFamily="34" charset="0"/>
                                <a:cs typeface="Calibri" panose="020F0502020204030204" pitchFamily="34" charset="0"/>
                              </a:rPr>
                              <m:t>−</m:t>
                            </m:r>
                            <m:sSub>
                              <m:sSubPr>
                                <m:ctrlPr>
                                  <a:rPr lang="en-US" sz="2400" i="1">
                                    <a:effectLst/>
                                    <a:latin typeface="Cambria Math" panose="02040503050406030204" pitchFamily="18" charset="0"/>
                                    <a:ea typeface="Calibri" panose="020F0502020204030204" pitchFamily="34" charset="0"/>
                                    <a:cs typeface="Calibri" panose="020F0502020204030204" pitchFamily="34" charset="0"/>
                                  </a:rPr>
                                </m:ctrlPr>
                              </m:sSubPr>
                              <m:e>
                                <m:r>
                                  <a:rPr lang="en-US" i="1">
                                    <a:effectLst/>
                                    <a:latin typeface="Cambria Math" panose="02040503050406030204" pitchFamily="18" charset="0"/>
                                    <a:ea typeface="Calibri" panose="020F0502020204030204" pitchFamily="34" charset="0"/>
                                    <a:cs typeface="Calibri" panose="020F0502020204030204" pitchFamily="34" charset="0"/>
                                  </a:rPr>
                                  <m:t>𝑋</m:t>
                                </m:r>
                              </m:e>
                              <m:sub>
                                <m:r>
                                  <a:rPr lang="en-US" i="1">
                                    <a:effectLst/>
                                    <a:latin typeface="Cambria Math" panose="02040503050406030204" pitchFamily="18" charset="0"/>
                                    <a:ea typeface="Calibri" panose="020F0502020204030204" pitchFamily="34" charset="0"/>
                                    <a:cs typeface="Calibri" panose="020F0502020204030204" pitchFamily="34" charset="0"/>
                                  </a:rPr>
                                  <m:t>0</m:t>
                                </m:r>
                              </m:sub>
                            </m:sSub>
                            <m:r>
                              <a:rPr lang="en-US" i="1">
                                <a:effectLst/>
                                <a:latin typeface="Cambria Math" panose="02040503050406030204" pitchFamily="18" charset="0"/>
                                <a:ea typeface="Calibri" panose="020F0502020204030204" pitchFamily="34" charset="0"/>
                                <a:cs typeface="Calibri" panose="020F0502020204030204" pitchFamily="34" charset="0"/>
                              </a:rPr>
                              <m:t>𝑊</m:t>
                            </m:r>
                          </m:e>
                        </m:d>
                      </m:e>
                      <m:sup>
                        <m:r>
                          <a:rPr lang="en-US" i="1">
                            <a:effectLst/>
                            <a:latin typeface="Cambria Math" panose="02040503050406030204" pitchFamily="18" charset="0"/>
                            <a:ea typeface="Calibri" panose="020F0502020204030204" pitchFamily="34" charset="0"/>
                            <a:cs typeface="Calibri" panose="020F0502020204030204" pitchFamily="34" charset="0"/>
                          </a:rPr>
                          <m:t>′</m:t>
                        </m:r>
                      </m:sup>
                    </m:sSup>
                    <m:r>
                      <a:rPr lang="en-US" i="1">
                        <a:effectLst/>
                        <a:latin typeface="Cambria Math" panose="02040503050406030204" pitchFamily="18" charset="0"/>
                        <a:ea typeface="Calibri" panose="020F0502020204030204" pitchFamily="34" charset="0"/>
                        <a:cs typeface="Calibri" panose="020F0502020204030204" pitchFamily="34" charset="0"/>
                      </a:rPr>
                      <m:t>𝑉</m:t>
                    </m:r>
                    <m:d>
                      <m:dPr>
                        <m:ctrlPr>
                          <a:rPr lang="en-US" sz="2400" i="1">
                            <a:effectLst/>
                            <a:latin typeface="Cambria Math" panose="02040503050406030204" pitchFamily="18" charset="0"/>
                            <a:ea typeface="Calibri" panose="020F0502020204030204" pitchFamily="34" charset="0"/>
                            <a:cs typeface="Calibri" panose="020F0502020204030204" pitchFamily="34" charset="0"/>
                          </a:rPr>
                        </m:ctrlPr>
                      </m:dPr>
                      <m:e>
                        <m:sSub>
                          <m:sSubPr>
                            <m:ctrlPr>
                              <a:rPr lang="en-US" sz="2400" i="1">
                                <a:effectLst/>
                                <a:latin typeface="Cambria Math" panose="02040503050406030204" pitchFamily="18" charset="0"/>
                                <a:ea typeface="Calibri" panose="020F0502020204030204" pitchFamily="34" charset="0"/>
                                <a:cs typeface="Calibri" panose="020F0502020204030204" pitchFamily="34" charset="0"/>
                              </a:rPr>
                            </m:ctrlPr>
                          </m:sSubPr>
                          <m:e>
                            <m:r>
                              <a:rPr lang="en-US" i="1">
                                <a:effectLst/>
                                <a:latin typeface="Cambria Math" panose="02040503050406030204" pitchFamily="18" charset="0"/>
                                <a:ea typeface="Calibri" panose="020F0502020204030204" pitchFamily="34" charset="0"/>
                                <a:cs typeface="Calibri" panose="020F0502020204030204" pitchFamily="34" charset="0"/>
                              </a:rPr>
                              <m:t>𝑋</m:t>
                            </m:r>
                          </m:e>
                          <m:sub>
                            <m:r>
                              <a:rPr lang="en-US" i="1">
                                <a:effectLst/>
                                <a:latin typeface="Cambria Math" panose="02040503050406030204" pitchFamily="18" charset="0"/>
                                <a:ea typeface="Calibri" panose="020F0502020204030204" pitchFamily="34" charset="0"/>
                                <a:cs typeface="Calibri" panose="020F0502020204030204" pitchFamily="34" charset="0"/>
                              </a:rPr>
                              <m:t>1</m:t>
                            </m:r>
                          </m:sub>
                        </m:sSub>
                        <m:r>
                          <a:rPr lang="en-US" i="1">
                            <a:effectLst/>
                            <a:latin typeface="Cambria Math" panose="02040503050406030204" pitchFamily="18" charset="0"/>
                            <a:ea typeface="Calibri" panose="020F0502020204030204" pitchFamily="34" charset="0"/>
                            <a:cs typeface="Calibri" panose="020F0502020204030204" pitchFamily="34" charset="0"/>
                          </a:rPr>
                          <m:t>−</m:t>
                        </m:r>
                        <m:sSub>
                          <m:sSubPr>
                            <m:ctrlPr>
                              <a:rPr lang="en-US" sz="2400" i="1">
                                <a:effectLst/>
                                <a:latin typeface="Cambria Math" panose="02040503050406030204" pitchFamily="18" charset="0"/>
                                <a:ea typeface="Calibri" panose="020F0502020204030204" pitchFamily="34" charset="0"/>
                                <a:cs typeface="Calibri" panose="020F0502020204030204" pitchFamily="34" charset="0"/>
                              </a:rPr>
                            </m:ctrlPr>
                          </m:sSubPr>
                          <m:e>
                            <m:r>
                              <a:rPr lang="en-US" i="1">
                                <a:effectLst/>
                                <a:latin typeface="Cambria Math" panose="02040503050406030204" pitchFamily="18" charset="0"/>
                                <a:ea typeface="Calibri" panose="020F0502020204030204" pitchFamily="34" charset="0"/>
                                <a:cs typeface="Calibri" panose="020F0502020204030204" pitchFamily="34" charset="0"/>
                              </a:rPr>
                              <m:t>𝑋</m:t>
                            </m:r>
                          </m:e>
                          <m:sub>
                            <m:r>
                              <a:rPr lang="en-US" i="1">
                                <a:effectLst/>
                                <a:latin typeface="Cambria Math" panose="02040503050406030204" pitchFamily="18" charset="0"/>
                                <a:ea typeface="Calibri" panose="020F0502020204030204" pitchFamily="34" charset="0"/>
                                <a:cs typeface="Calibri" panose="020F0502020204030204" pitchFamily="34" charset="0"/>
                              </a:rPr>
                              <m:t>0</m:t>
                            </m:r>
                          </m:sub>
                        </m:sSub>
                        <m:r>
                          <a:rPr lang="en-US" i="1">
                            <a:effectLst/>
                            <a:latin typeface="Cambria Math" panose="02040503050406030204" pitchFamily="18" charset="0"/>
                            <a:ea typeface="Calibri" panose="020F0502020204030204" pitchFamily="34" charset="0"/>
                            <a:cs typeface="Calibri" panose="020F0502020204030204" pitchFamily="34" charset="0"/>
                          </a:rPr>
                          <m:t>𝑊</m:t>
                        </m:r>
                      </m:e>
                    </m:d>
                  </m:oMath>
                </a14:m>
                <a:endParaRPr lang="en-US" dirty="0">
                  <a:effectLst/>
                  <a:ea typeface="Calibri" panose="020F0502020204030204" pitchFamily="34" charset="0"/>
                  <a:cs typeface="Calibri" panose="020F0502020204030204" pitchFamily="34" charset="0"/>
                </a:endParaRPr>
              </a:p>
              <a:p>
                <a:pPr lvl="1"/>
                <a:r>
                  <a:rPr lang="en-US" dirty="0">
                    <a:effectLst/>
                    <a:ea typeface="Times New Roman" panose="02020603050405020304" pitchFamily="18" charset="0"/>
                    <a:cs typeface="Calibri" panose="020F0502020204030204" pitchFamily="34" charset="0"/>
                  </a:rPr>
                  <a:t>X</a:t>
                </a:r>
                <a:r>
                  <a:rPr lang="en-US" baseline="-25000" dirty="0">
                    <a:effectLst/>
                    <a:ea typeface="Times New Roman" panose="02020603050405020304" pitchFamily="18" charset="0"/>
                    <a:cs typeface="Calibri" panose="020F0502020204030204" pitchFamily="34" charset="0"/>
                  </a:rPr>
                  <a:t>1</a:t>
                </a:r>
                <a:r>
                  <a:rPr lang="en-US" dirty="0">
                    <a:effectLst/>
                    <a:ea typeface="Times New Roman" panose="02020603050405020304" pitchFamily="18" charset="0"/>
                    <a:cs typeface="Calibri" panose="020F0502020204030204" pitchFamily="34" charset="0"/>
                  </a:rPr>
                  <a:t> and X</a:t>
                </a:r>
                <a:r>
                  <a:rPr lang="en-US" baseline="-25000" dirty="0">
                    <a:effectLst/>
                    <a:ea typeface="Times New Roman" panose="02020603050405020304" pitchFamily="18" charset="0"/>
                    <a:cs typeface="Calibri" panose="020F0502020204030204" pitchFamily="34" charset="0"/>
                  </a:rPr>
                  <a:t>0</a:t>
                </a:r>
                <a:r>
                  <a:rPr lang="en-US" dirty="0">
                    <a:effectLst/>
                    <a:ea typeface="Times New Roman" panose="02020603050405020304" pitchFamily="18" charset="0"/>
                    <a:cs typeface="Calibri" panose="020F0502020204030204" pitchFamily="34" charset="0"/>
                  </a:rPr>
                  <a:t> contain the </a:t>
                </a:r>
                <a:r>
                  <a:rPr lang="en-US" dirty="0">
                    <a:effectLst/>
                    <a:ea typeface="Calibri" panose="020F0502020204030204" pitchFamily="34" charset="0"/>
                    <a:cs typeface="Calibri" panose="020F0502020204030204" pitchFamily="34" charset="0"/>
                  </a:rPr>
                  <a:t>pre-treatment outcomes and covariates for the treated unit and control units respectively, and</a:t>
                </a:r>
                <a:r>
                  <a:rPr lang="en-US" dirty="0">
                    <a:effectLst/>
                    <a:ea typeface="Times New Roman" panose="02020603050405020304" pitchFamily="18" charset="0"/>
                    <a:cs typeface="Calibri" panose="020F0502020204030204" pitchFamily="34" charset="0"/>
                  </a:rPr>
                  <a:t> </a:t>
                </a:r>
                <a:r>
                  <a:rPr lang="en-US" b="1" i="1" dirty="0">
                    <a:effectLst/>
                    <a:ea typeface="Times New Roman" panose="02020603050405020304" pitchFamily="18" charset="0"/>
                    <a:cs typeface="Calibri" panose="020F0502020204030204" pitchFamily="34" charset="0"/>
                  </a:rPr>
                  <a:t>V</a:t>
                </a:r>
                <a:r>
                  <a:rPr lang="en-US" dirty="0">
                    <a:effectLst/>
                    <a:ea typeface="Times New Roman" panose="02020603050405020304" pitchFamily="18" charset="0"/>
                    <a:cs typeface="Calibri" panose="020F0502020204030204" pitchFamily="34" charset="0"/>
                  </a:rPr>
                  <a:t> captures the relative importance of these variables as predictors of the outcome of interest. </a:t>
                </a:r>
                <a:endParaRPr lang="en-US" dirty="0">
                  <a:effectLst/>
                  <a:ea typeface="Calibri" panose="020F0502020204030204" pitchFamily="34" charset="0"/>
                  <a:cs typeface="Calibri" panose="020F0502020204030204" pitchFamily="34" charset="0"/>
                </a:endParaRPr>
              </a:p>
              <a:p>
                <a:r>
                  <a:rPr lang="en-US" dirty="0">
                    <a:effectLst/>
                    <a:ea typeface="Times New Roman" panose="02020603050405020304" pitchFamily="18" charset="0"/>
                    <a:cs typeface="Calibri" panose="020F0502020204030204" pitchFamily="34" charset="0"/>
                  </a:rPr>
                  <a:t>In this setting, we </a:t>
                </a:r>
                <a:r>
                  <a:rPr lang="en-US" dirty="0">
                    <a:ea typeface="Times New Roman" panose="02020603050405020304" pitchFamily="18" charset="0"/>
                    <a:cs typeface="Calibri" panose="020F0502020204030204" pitchFamily="34" charset="0"/>
                  </a:rPr>
                  <a:t>assume </a:t>
                </a:r>
                <a:r>
                  <a:rPr lang="en-US" dirty="0">
                    <a:effectLst/>
                    <a:ea typeface="Times New Roman" panose="02020603050405020304" pitchFamily="18" charset="0"/>
                    <a:cs typeface="Calibri" panose="020F0502020204030204" pitchFamily="34" charset="0"/>
                  </a:rPr>
                  <a:t>the weights </a:t>
                </a:r>
                <a:r>
                  <a:rPr lang="en-US" i="1" dirty="0">
                    <a:effectLst/>
                    <a:ea typeface="Times New Roman" panose="02020603050405020304" pitchFamily="18" charset="0"/>
                    <a:cs typeface="Calibri" panose="020F0502020204030204" pitchFamily="34" charset="0"/>
                  </a:rPr>
                  <a:t>W</a:t>
                </a:r>
                <a:r>
                  <a:rPr lang="en-US" dirty="0">
                    <a:effectLst/>
                    <a:ea typeface="Times New Roman" panose="02020603050405020304" pitchFamily="18" charset="0"/>
                    <a:cs typeface="Calibri" panose="020F0502020204030204" pitchFamily="34" charset="0"/>
                  </a:rPr>
                  <a:t> to be positive and summing to 1 to avoid extrapolations issues (Abadie et al 2010). More recent approaches relaxed this assumption </a:t>
                </a:r>
              </a:p>
              <a:p>
                <a:r>
                  <a:rPr lang="en-US" dirty="0">
                    <a:effectLst/>
                    <a:ea typeface="Times New Roman" panose="02020603050405020304" pitchFamily="18" charset="0"/>
                    <a:cs typeface="Calibri" panose="020F0502020204030204" pitchFamily="34" charset="0"/>
                  </a:rPr>
                  <a:t>The </a:t>
                </a:r>
                <a:r>
                  <a:rPr lang="en-US" dirty="0">
                    <a:solidFill>
                      <a:srgbClr val="000000"/>
                    </a:solidFill>
                    <a:effectLst/>
                    <a:ea typeface="Calibri" panose="020F0502020204030204" pitchFamily="34" charset="0"/>
                    <a:cs typeface="Calibri" panose="020F0502020204030204" pitchFamily="34" charset="0"/>
                  </a:rPr>
                  <a:t>treatment effect for the treated unit (</a:t>
                </a:r>
                <a:r>
                  <a:rPr lang="en-US" i="1" dirty="0" err="1">
                    <a:solidFill>
                      <a:srgbClr val="000000"/>
                    </a:solidFill>
                    <a:effectLst/>
                    <a:ea typeface="Calibri" panose="020F0502020204030204" pitchFamily="34" charset="0"/>
                    <a:cs typeface="Calibri" panose="020F0502020204030204" pitchFamily="34" charset="0"/>
                  </a:rPr>
                  <a:t>i</a:t>
                </a:r>
                <a:r>
                  <a:rPr lang="en-US" dirty="0">
                    <a:solidFill>
                      <a:srgbClr val="000000"/>
                    </a:solidFill>
                    <a:effectLst/>
                    <a:ea typeface="Calibri" panose="020F0502020204030204" pitchFamily="34" charset="0"/>
                    <a:cs typeface="Calibri" panose="020F0502020204030204" pitchFamily="34" charset="0"/>
                  </a:rPr>
                  <a:t> = 1), </a:t>
                </a:r>
                <a14:m>
                  <m:oMath xmlns:m="http://schemas.openxmlformats.org/officeDocument/2006/math">
                    <m:sSub>
                      <m:sSubPr>
                        <m:ctrlPr>
                          <a:rPr lang="en-US" sz="2400" i="1">
                            <a:effectLst/>
                            <a:latin typeface="Cambria Math" panose="02040503050406030204" pitchFamily="18" charset="0"/>
                          </a:rPr>
                        </m:ctrlPr>
                      </m:sSubPr>
                      <m:e>
                        <m:r>
                          <a:rPr lang="en-US" i="1">
                            <a:effectLst/>
                            <a:latin typeface="Cambria Math" panose="02040503050406030204" pitchFamily="18" charset="0"/>
                            <a:ea typeface="Times New Roman" panose="02020603050405020304" pitchFamily="18" charset="0"/>
                            <a:cs typeface="Times New Roman" panose="02020603050405020304" pitchFamily="18" charset="0"/>
                          </a:rPr>
                          <m:t>𝜏</m:t>
                        </m:r>
                      </m:e>
                      <m:sub>
                        <m:r>
                          <a:rPr lang="en-US" i="1">
                            <a:effectLst/>
                            <a:latin typeface="Cambria Math" panose="02040503050406030204" pitchFamily="18" charset="0"/>
                            <a:ea typeface="Times New Roman" panose="02020603050405020304" pitchFamily="18" charset="0"/>
                            <a:cs typeface="Times New Roman" panose="02020603050405020304" pitchFamily="18" charset="0"/>
                          </a:rPr>
                          <m:t>1</m:t>
                        </m:r>
                        <m:r>
                          <a:rPr lang="en-US" i="1">
                            <a:effectLst/>
                            <a:latin typeface="Cambria Math" panose="02040503050406030204" pitchFamily="18" charset="0"/>
                            <a:ea typeface="Times New Roman" panose="02020603050405020304" pitchFamily="18" charset="0"/>
                            <a:cs typeface="Times New Roman" panose="02020603050405020304" pitchFamily="18" charset="0"/>
                          </a:rPr>
                          <m:t>𝑡</m:t>
                        </m:r>
                      </m:sub>
                    </m:sSub>
                    <m:r>
                      <a:rPr lang="en-US"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dirty="0">
                    <a:solidFill>
                      <a:srgbClr val="000000"/>
                    </a:solidFill>
                    <a:effectLst/>
                    <a:ea typeface="Calibri" panose="020F0502020204030204" pitchFamily="34" charset="0"/>
                    <a:cs typeface="Calibri" panose="020F0502020204030204" pitchFamily="34" charset="0"/>
                  </a:rPr>
                  <a:t> can then be estimated by (</a:t>
                </a:r>
                <a14:m>
                  <m:oMath xmlns:m="http://schemas.openxmlformats.org/officeDocument/2006/math">
                    <m:sSubSup>
                      <m:sSubSupPr>
                        <m:ctrlPr>
                          <a:rPr lang="en-US" sz="2400"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ctrlPr>
                      </m:sSubSupPr>
                      <m:e>
                        <m:r>
                          <a:rPr lang="en-US"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t>𝑌</m:t>
                        </m:r>
                      </m:e>
                      <m:sub>
                        <m:r>
                          <a:rPr lang="en-US"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t>1</m:t>
                        </m:r>
                        <m:r>
                          <a:rPr lang="en-US"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t>𝑡</m:t>
                        </m:r>
                      </m:sub>
                      <m:sup>
                        <m:r>
                          <a:rPr lang="en-US">
                            <a:solidFill>
                              <a:srgbClr val="000000"/>
                            </a:solidFill>
                            <a:effectLst/>
                            <a:latin typeface="Cambria Math" panose="02040503050406030204" pitchFamily="18" charset="0"/>
                            <a:ea typeface="Calibri" panose="020F0502020204030204" pitchFamily="34" charset="0"/>
                            <a:cs typeface="Calibri" panose="020F0502020204030204" pitchFamily="34" charset="0"/>
                          </a:rPr>
                          <m:t> </m:t>
                        </m:r>
                      </m:sup>
                    </m:sSubSup>
                    <m:r>
                      <a:rPr lang="en-US"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t>−</m:t>
                    </m:r>
                    <m:sSubSup>
                      <m:sSubSupPr>
                        <m:ctrlPr>
                          <a:rPr lang="en-US" sz="2400"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ctrlPr>
                      </m:sSubSupPr>
                      <m:e>
                        <m:acc>
                          <m:accPr>
                            <m:chr m:val="̂"/>
                            <m:ctrlPr>
                              <a:rPr lang="en-US" sz="2400"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ctrlPr>
                          </m:accPr>
                          <m:e>
                            <m:r>
                              <a:rPr lang="en-US"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t>𝑌</m:t>
                            </m:r>
                          </m:e>
                        </m:acc>
                      </m:e>
                      <m:sub>
                        <m:r>
                          <a:rPr lang="en-US"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t>1</m:t>
                        </m:r>
                        <m:r>
                          <a:rPr lang="en-US"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t>𝑡</m:t>
                        </m:r>
                      </m:sub>
                      <m:sup>
                        <m:r>
                          <a:rPr lang="en-US">
                            <a:solidFill>
                              <a:srgbClr val="000000"/>
                            </a:solidFill>
                            <a:effectLst/>
                            <a:latin typeface="Cambria Math" panose="02040503050406030204" pitchFamily="18" charset="0"/>
                            <a:ea typeface="Calibri" panose="020F0502020204030204" pitchFamily="34" charset="0"/>
                            <a:cs typeface="Calibri" panose="020F0502020204030204" pitchFamily="34" charset="0"/>
                          </a:rPr>
                          <m:t>0 </m:t>
                        </m:r>
                      </m:sup>
                    </m:sSubSup>
                    <m:r>
                      <a:rPr lang="en-US" i="1">
                        <a:solidFill>
                          <a:srgbClr val="000000"/>
                        </a:solidFill>
                        <a:effectLst/>
                        <a:latin typeface="Cambria Math" panose="02040503050406030204" pitchFamily="18" charset="0"/>
                        <a:ea typeface="Calibri" panose="020F0502020204030204" pitchFamily="34" charset="0"/>
                        <a:cs typeface="Calibri" panose="020F0502020204030204" pitchFamily="34" charset="0"/>
                      </a:rPr>
                      <m:t>)</m:t>
                    </m:r>
                  </m:oMath>
                </a14:m>
                <a:r>
                  <a:rPr lang="en-US" dirty="0">
                    <a:solidFill>
                      <a:srgbClr val="000000"/>
                    </a:solidFill>
                    <a:effectLst/>
                    <a:ea typeface="Calibri" panose="020F0502020204030204" pitchFamily="34" charset="0"/>
                    <a:cs typeface="Calibri" panose="020F0502020204030204" pitchFamily="34" charset="0"/>
                  </a:rPr>
                  <a:t> for each post-intervention period separately, and these can be averaged over time to obtain an ATT over the post-intervention period</a:t>
                </a:r>
              </a:p>
              <a:p>
                <a:r>
                  <a:rPr lang="en-US" dirty="0">
                    <a:solidFill>
                      <a:srgbClr val="000000"/>
                    </a:solidFill>
                    <a:effectLst/>
                    <a:ea typeface="Calibri" panose="020F0502020204030204" pitchFamily="34" charset="0"/>
                    <a:cs typeface="Calibri" panose="020F0502020204030204" pitchFamily="34" charset="0"/>
                  </a:rPr>
                  <a:t>What happens when we have multiple treated units? </a:t>
                </a:r>
              </a:p>
              <a:p>
                <a:pPr lvl="1"/>
                <a:r>
                  <a:rPr lang="en-US" sz="2000" dirty="0">
                    <a:solidFill>
                      <a:srgbClr val="000000"/>
                    </a:solidFill>
                    <a:cs typeface="Calibri" panose="020F0502020204030204" pitchFamily="34" charset="0"/>
                  </a:rPr>
                  <a:t>Discussed later … </a:t>
                </a:r>
                <a:endParaRPr lang="en-US" sz="2000" dirty="0"/>
              </a:p>
            </p:txBody>
          </p:sp>
        </mc:Choice>
        <mc:Fallback xmlns="">
          <p:sp>
            <p:nvSpPr>
              <p:cNvPr id="3" name="Espace réservé du contenu 2">
                <a:extLst>
                  <a:ext uri="{FF2B5EF4-FFF2-40B4-BE49-F238E27FC236}">
                    <a16:creationId xmlns:a16="http://schemas.microsoft.com/office/drawing/2014/main" id="{A320D40B-BA75-4FF2-983C-F808AAB0749C}"/>
                  </a:ext>
                </a:extLst>
              </p:cNvPr>
              <p:cNvSpPr>
                <a:spLocks noGrp="1" noRot="1" noChangeAspect="1" noMove="1" noResize="1" noEditPoints="1" noAdjustHandles="1" noChangeArrowheads="1" noChangeShapeType="1" noTextEdit="1"/>
              </p:cNvSpPr>
              <p:nvPr>
                <p:ph idx="1"/>
              </p:nvPr>
            </p:nvSpPr>
            <p:spPr>
              <a:xfrm>
                <a:off x="600075" y="1779651"/>
                <a:ext cx="10801350" cy="4668774"/>
              </a:xfrm>
              <a:blipFill>
                <a:blip r:embed="rId2"/>
                <a:stretch>
                  <a:fillRect l="-226" t="-1436" r="-1016"/>
                </a:stretch>
              </a:blipFill>
            </p:spPr>
            <p:txBody>
              <a:bodyPr/>
              <a:lstStyle/>
              <a:p>
                <a:r>
                  <a:rPr lang="en-US">
                    <a:noFill/>
                  </a:rPr>
                  <a:t> </a:t>
                </a:r>
              </a:p>
            </p:txBody>
          </p:sp>
        </mc:Fallback>
      </mc:AlternateContent>
    </p:spTree>
    <p:extLst>
      <p:ext uri="{BB962C8B-B14F-4D97-AF65-F5344CB8AC3E}">
        <p14:creationId xmlns:p14="http://schemas.microsoft.com/office/powerpoint/2010/main" val="496591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in conducting a Synthetic control study</a:t>
            </a:r>
          </a:p>
        </p:txBody>
      </p:sp>
      <p:sp>
        <p:nvSpPr>
          <p:cNvPr id="3" name="Content Placeholder 2"/>
          <p:cNvSpPr>
            <a:spLocks noGrp="1"/>
          </p:cNvSpPr>
          <p:nvPr>
            <p:ph idx="1"/>
          </p:nvPr>
        </p:nvSpPr>
        <p:spPr/>
        <p:txBody>
          <a:bodyPr>
            <a:normAutofit/>
          </a:bodyPr>
          <a:lstStyle/>
          <a:p>
            <a:pPr marL="457200" indent="-457200">
              <a:buFont typeface="+mj-lt"/>
              <a:buAutoNum type="arabicPeriod"/>
            </a:pPr>
            <a:r>
              <a:rPr lang="en-US" dirty="0"/>
              <a:t>Ensure the theory behind the intervention is well understood. Develop or present a conceptual model to make the theory transparent.</a:t>
            </a:r>
          </a:p>
          <a:p>
            <a:pPr lvl="1"/>
            <a:r>
              <a:rPr lang="en-US" dirty="0"/>
              <a:t>To ensure areas that have also been exposed to a similar intervention are excluded from the pool of potential controls</a:t>
            </a:r>
          </a:p>
          <a:p>
            <a:pPr marL="457200" indent="-457200">
              <a:buFont typeface="+mj-lt"/>
              <a:buAutoNum type="arabicPeriod"/>
            </a:pPr>
            <a:r>
              <a:rPr lang="en-US" dirty="0"/>
              <a:t>Identify potential control units that are plausibly eligible </a:t>
            </a:r>
          </a:p>
          <a:p>
            <a:pPr marL="457200" indent="-457200">
              <a:buFont typeface="+mj-lt"/>
              <a:buAutoNum type="arabicPeriod"/>
            </a:pPr>
            <a:r>
              <a:rPr lang="en-US" dirty="0"/>
              <a:t>Develop the synthetic control. </a:t>
            </a:r>
          </a:p>
          <a:p>
            <a:pPr lvl="1"/>
            <a:r>
              <a:rPr lang="en-US" dirty="0"/>
              <a:t>An optimization procedure using the outcome variables from the potential control areas to select the best weighting of units from the donor pool to create a synthetic control</a:t>
            </a:r>
          </a:p>
          <a:p>
            <a:pPr marL="457200" indent="-457200">
              <a:buFont typeface="+mj-lt"/>
              <a:buAutoNum type="arabicPeriod"/>
            </a:pPr>
            <a:r>
              <a:rPr lang="en-US" dirty="0"/>
              <a:t>Run outcome analysis and present results</a:t>
            </a:r>
          </a:p>
          <a:p>
            <a:pPr marL="457200" indent="-457200">
              <a:buFont typeface="+mj-lt"/>
              <a:buAutoNum type="arabicPeriod"/>
            </a:pPr>
            <a:r>
              <a:rPr lang="en-US" dirty="0"/>
              <a:t>Run robustness checks</a:t>
            </a:r>
          </a:p>
          <a:p>
            <a:endParaRPr lang="en-US" dirty="0"/>
          </a:p>
          <a:p>
            <a:endParaRPr lang="en-US" dirty="0"/>
          </a:p>
        </p:txBody>
      </p:sp>
    </p:spTree>
    <p:extLst>
      <p:ext uri="{BB962C8B-B14F-4D97-AF65-F5344CB8AC3E}">
        <p14:creationId xmlns:p14="http://schemas.microsoft.com/office/powerpoint/2010/main" val="39743427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6642" y="262688"/>
            <a:ext cx="10058400" cy="1609344"/>
          </a:xfrm>
        </p:spPr>
        <p:txBody>
          <a:bodyPr/>
          <a:lstStyle/>
          <a:p>
            <a:r>
              <a:rPr lang="en-US" dirty="0"/>
              <a:t>Key assumptions</a:t>
            </a:r>
          </a:p>
        </p:txBody>
      </p:sp>
      <p:pic>
        <p:nvPicPr>
          <p:cNvPr id="4" name="Content Placeholder 3"/>
          <p:cNvPicPr>
            <a:picLocks noGrp="1" noChangeAspect="1"/>
          </p:cNvPicPr>
          <p:nvPr>
            <p:ph idx="1"/>
          </p:nvPr>
        </p:nvPicPr>
        <p:blipFill>
          <a:blip r:embed="rId2"/>
          <a:stretch>
            <a:fillRect/>
          </a:stretch>
        </p:blipFill>
        <p:spPr>
          <a:xfrm>
            <a:off x="192554" y="1789952"/>
            <a:ext cx="6743700" cy="4000500"/>
          </a:xfrm>
          <a:prstGeom prst="rect">
            <a:avLst/>
          </a:prstGeom>
        </p:spPr>
      </p:pic>
      <p:pic>
        <p:nvPicPr>
          <p:cNvPr id="5" name="Picture 4"/>
          <p:cNvPicPr>
            <a:picLocks noChangeAspect="1"/>
          </p:cNvPicPr>
          <p:nvPr/>
        </p:nvPicPr>
        <p:blipFill>
          <a:blip r:embed="rId3"/>
          <a:stretch>
            <a:fillRect/>
          </a:stretch>
        </p:blipFill>
        <p:spPr>
          <a:xfrm>
            <a:off x="5942634" y="353535"/>
            <a:ext cx="5724781" cy="1192875"/>
          </a:xfrm>
          <a:prstGeom prst="rect">
            <a:avLst/>
          </a:prstGeom>
        </p:spPr>
      </p:pic>
    </p:spTree>
    <p:extLst>
      <p:ext uri="{BB962C8B-B14F-4D97-AF65-F5344CB8AC3E}">
        <p14:creationId xmlns:p14="http://schemas.microsoft.com/office/powerpoint/2010/main" val="26315604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5254" y="153903"/>
            <a:ext cx="10058400" cy="1609344"/>
          </a:xfrm>
        </p:spPr>
        <p:txBody>
          <a:bodyPr/>
          <a:lstStyle/>
          <a:p>
            <a:r>
              <a:rPr lang="en-US" dirty="0"/>
              <a:t>Examples </a:t>
            </a:r>
          </a:p>
        </p:txBody>
      </p:sp>
      <p:pic>
        <p:nvPicPr>
          <p:cNvPr id="4" name="Content Placeholder 3"/>
          <p:cNvPicPr>
            <a:picLocks noGrp="1" noChangeAspect="1"/>
          </p:cNvPicPr>
          <p:nvPr>
            <p:ph idx="1"/>
          </p:nvPr>
        </p:nvPicPr>
        <p:blipFill>
          <a:blip r:embed="rId2"/>
          <a:stretch>
            <a:fillRect/>
          </a:stretch>
        </p:blipFill>
        <p:spPr>
          <a:xfrm>
            <a:off x="5609617" y="271930"/>
            <a:ext cx="6235629" cy="1573476"/>
          </a:xfrm>
          <a:prstGeom prst="rect">
            <a:avLst/>
          </a:prstGeom>
        </p:spPr>
      </p:pic>
      <p:pic>
        <p:nvPicPr>
          <p:cNvPr id="5" name="Picture 4"/>
          <p:cNvPicPr>
            <a:picLocks noChangeAspect="1"/>
          </p:cNvPicPr>
          <p:nvPr/>
        </p:nvPicPr>
        <p:blipFill>
          <a:blip r:embed="rId3"/>
          <a:stretch>
            <a:fillRect/>
          </a:stretch>
        </p:blipFill>
        <p:spPr>
          <a:xfrm>
            <a:off x="6756298" y="2690357"/>
            <a:ext cx="5108646" cy="1321202"/>
          </a:xfrm>
          <a:prstGeom prst="rect">
            <a:avLst/>
          </a:prstGeom>
        </p:spPr>
      </p:pic>
      <p:pic>
        <p:nvPicPr>
          <p:cNvPr id="6" name="Picture 5"/>
          <p:cNvPicPr>
            <a:picLocks noChangeAspect="1"/>
          </p:cNvPicPr>
          <p:nvPr/>
        </p:nvPicPr>
        <p:blipFill>
          <a:blip r:embed="rId4"/>
          <a:stretch>
            <a:fillRect/>
          </a:stretch>
        </p:blipFill>
        <p:spPr>
          <a:xfrm>
            <a:off x="119761" y="3175397"/>
            <a:ext cx="5820971" cy="1383394"/>
          </a:xfrm>
          <a:prstGeom prst="rect">
            <a:avLst/>
          </a:prstGeom>
        </p:spPr>
      </p:pic>
      <p:pic>
        <p:nvPicPr>
          <p:cNvPr id="7" name="Picture 6"/>
          <p:cNvPicPr>
            <a:picLocks noChangeAspect="1"/>
          </p:cNvPicPr>
          <p:nvPr/>
        </p:nvPicPr>
        <p:blipFill>
          <a:blip r:embed="rId5"/>
          <a:stretch>
            <a:fillRect/>
          </a:stretch>
        </p:blipFill>
        <p:spPr>
          <a:xfrm>
            <a:off x="595254" y="4611634"/>
            <a:ext cx="7466257" cy="1410076"/>
          </a:xfrm>
          <a:prstGeom prst="rect">
            <a:avLst/>
          </a:prstGeom>
        </p:spPr>
      </p:pic>
      <p:pic>
        <p:nvPicPr>
          <p:cNvPr id="8" name="Image 7">
            <a:extLst>
              <a:ext uri="{FF2B5EF4-FFF2-40B4-BE49-F238E27FC236}">
                <a16:creationId xmlns:a16="http://schemas.microsoft.com/office/drawing/2014/main" id="{3E8579CF-63F2-4007-9F8B-CB419C20B6F3}"/>
              </a:ext>
            </a:extLst>
          </p:cNvPr>
          <p:cNvPicPr>
            <a:picLocks noChangeAspect="1"/>
          </p:cNvPicPr>
          <p:nvPr/>
        </p:nvPicPr>
        <p:blipFill>
          <a:blip r:embed="rId6"/>
          <a:stretch>
            <a:fillRect/>
          </a:stretch>
        </p:blipFill>
        <p:spPr>
          <a:xfrm>
            <a:off x="327056" y="1724444"/>
            <a:ext cx="6038850" cy="1164468"/>
          </a:xfrm>
          <a:prstGeom prst="rect">
            <a:avLst/>
          </a:prstGeom>
        </p:spPr>
      </p:pic>
    </p:spTree>
    <p:extLst>
      <p:ext uri="{BB962C8B-B14F-4D97-AF65-F5344CB8AC3E}">
        <p14:creationId xmlns:p14="http://schemas.microsoft.com/office/powerpoint/2010/main" val="16115446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t>Overview:</a:t>
            </a:r>
            <a:br>
              <a:rPr lang="en-US" sz="3600" dirty="0"/>
            </a:br>
            <a:r>
              <a:rPr lang="en-US" sz="3600" dirty="0"/>
              <a:t>Comparing different approaches to evaluate natural experiments based on the timing of the intervention</a:t>
            </a:r>
          </a:p>
        </p:txBody>
      </p:sp>
      <p:sp>
        <p:nvSpPr>
          <p:cNvPr id="3" name="Content Placeholder 2"/>
          <p:cNvSpPr>
            <a:spLocks noGrp="1"/>
          </p:cNvSpPr>
          <p:nvPr>
            <p:ph idx="1"/>
          </p:nvPr>
        </p:nvSpPr>
        <p:spPr>
          <a:xfrm>
            <a:off x="500505" y="2656417"/>
            <a:ext cx="10058400" cy="4050792"/>
          </a:xfrm>
        </p:spPr>
        <p:txBody>
          <a:bodyPr>
            <a:normAutofit/>
          </a:bodyPr>
          <a:lstStyle/>
          <a:p>
            <a:r>
              <a:rPr lang="en-US" dirty="0"/>
              <a:t>Uncontrolled before and after designs</a:t>
            </a:r>
          </a:p>
          <a:p>
            <a:pPr lvl="1"/>
            <a:r>
              <a:rPr lang="en-US" dirty="0"/>
              <a:t>Single or multiple measurements </a:t>
            </a:r>
          </a:p>
          <a:p>
            <a:r>
              <a:rPr lang="en-US" dirty="0"/>
              <a:t>Interrupted time series design </a:t>
            </a:r>
          </a:p>
          <a:p>
            <a:endParaRPr lang="en-US" dirty="0"/>
          </a:p>
          <a:p>
            <a:r>
              <a:rPr lang="en-US" dirty="0"/>
              <a:t>Controlled Before and after with single measurements</a:t>
            </a:r>
          </a:p>
          <a:p>
            <a:r>
              <a:rPr lang="en-US" dirty="0"/>
              <a:t>Difference-in-Differences </a:t>
            </a:r>
          </a:p>
          <a:p>
            <a:endParaRPr lang="en-US" dirty="0"/>
          </a:p>
          <a:p>
            <a:r>
              <a:rPr lang="en-US" dirty="0"/>
              <a:t>Augmented DID approaches 	</a:t>
            </a:r>
          </a:p>
          <a:p>
            <a:pPr lvl="1"/>
            <a:r>
              <a:rPr lang="en-US" dirty="0"/>
              <a:t>With propensity score methods </a:t>
            </a:r>
          </a:p>
          <a:p>
            <a:r>
              <a:rPr lang="en-US" dirty="0"/>
              <a:t>Synthetic Control Methods </a:t>
            </a:r>
          </a:p>
          <a:p>
            <a:endParaRPr lang="en-US" dirty="0"/>
          </a:p>
          <a:p>
            <a:endParaRPr lang="en-US" dirty="0"/>
          </a:p>
          <a:p>
            <a:endParaRPr lang="en-US" dirty="0"/>
          </a:p>
        </p:txBody>
      </p:sp>
      <p:sp>
        <p:nvSpPr>
          <p:cNvPr id="4" name="Accolade fermante 3">
            <a:extLst>
              <a:ext uri="{FF2B5EF4-FFF2-40B4-BE49-F238E27FC236}">
                <a16:creationId xmlns:a16="http://schemas.microsoft.com/office/drawing/2014/main" id="{81CB52D2-9199-4B35-BEB7-76B37576206F}"/>
              </a:ext>
            </a:extLst>
          </p:cNvPr>
          <p:cNvSpPr/>
          <p:nvPr/>
        </p:nvSpPr>
        <p:spPr>
          <a:xfrm>
            <a:off x="5865962" y="2738629"/>
            <a:ext cx="914400" cy="129853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ZoneTexte 4">
            <a:extLst>
              <a:ext uri="{FF2B5EF4-FFF2-40B4-BE49-F238E27FC236}">
                <a16:creationId xmlns:a16="http://schemas.microsoft.com/office/drawing/2014/main" id="{2CD5556C-FA36-4733-A162-92A3DD322CF8}"/>
              </a:ext>
            </a:extLst>
          </p:cNvPr>
          <p:cNvSpPr txBox="1"/>
          <p:nvPr/>
        </p:nvSpPr>
        <p:spPr>
          <a:xfrm>
            <a:off x="7461935" y="3126285"/>
            <a:ext cx="3666313" cy="523220"/>
          </a:xfrm>
          <a:prstGeom prst="rect">
            <a:avLst/>
          </a:prstGeom>
          <a:noFill/>
        </p:spPr>
        <p:txBody>
          <a:bodyPr wrap="square" rtlCol="0">
            <a:spAutoFit/>
          </a:bodyPr>
          <a:lstStyle/>
          <a:p>
            <a:r>
              <a:rPr lang="en-US" sz="2800" b="1" dirty="0"/>
              <a:t>No Control Group</a:t>
            </a:r>
          </a:p>
        </p:txBody>
      </p:sp>
      <p:sp>
        <p:nvSpPr>
          <p:cNvPr id="6" name="ZoneTexte 5">
            <a:extLst>
              <a:ext uri="{FF2B5EF4-FFF2-40B4-BE49-F238E27FC236}">
                <a16:creationId xmlns:a16="http://schemas.microsoft.com/office/drawing/2014/main" id="{DAF17E6B-24DD-4413-9403-E1A56C2F6CEF}"/>
              </a:ext>
            </a:extLst>
          </p:cNvPr>
          <p:cNvSpPr txBox="1"/>
          <p:nvPr/>
        </p:nvSpPr>
        <p:spPr>
          <a:xfrm>
            <a:off x="8025182" y="4296402"/>
            <a:ext cx="3666313" cy="954107"/>
          </a:xfrm>
          <a:prstGeom prst="rect">
            <a:avLst/>
          </a:prstGeom>
          <a:noFill/>
        </p:spPr>
        <p:txBody>
          <a:bodyPr wrap="square" rtlCol="0">
            <a:spAutoFit/>
          </a:bodyPr>
          <a:lstStyle/>
          <a:p>
            <a:r>
              <a:rPr lang="en-US" sz="2800" b="1" dirty="0"/>
              <a:t>With one Control Group</a:t>
            </a:r>
          </a:p>
        </p:txBody>
      </p:sp>
      <p:sp>
        <p:nvSpPr>
          <p:cNvPr id="8" name="ZoneTexte 7">
            <a:extLst>
              <a:ext uri="{FF2B5EF4-FFF2-40B4-BE49-F238E27FC236}">
                <a16:creationId xmlns:a16="http://schemas.microsoft.com/office/drawing/2014/main" id="{59097733-453E-456F-B25B-3E1B23CD3C0F}"/>
              </a:ext>
            </a:extLst>
          </p:cNvPr>
          <p:cNvSpPr txBox="1"/>
          <p:nvPr/>
        </p:nvSpPr>
        <p:spPr>
          <a:xfrm>
            <a:off x="6892592" y="5542911"/>
            <a:ext cx="3666313" cy="954107"/>
          </a:xfrm>
          <a:prstGeom prst="rect">
            <a:avLst/>
          </a:prstGeom>
          <a:noFill/>
        </p:spPr>
        <p:txBody>
          <a:bodyPr wrap="square" rtlCol="0">
            <a:spAutoFit/>
          </a:bodyPr>
          <a:lstStyle/>
          <a:p>
            <a:r>
              <a:rPr lang="en-US" sz="2800" b="1" dirty="0"/>
              <a:t>With &gt;1 Control Groups</a:t>
            </a:r>
          </a:p>
        </p:txBody>
      </p:sp>
      <p:sp>
        <p:nvSpPr>
          <p:cNvPr id="9" name="Accolade fermante 8">
            <a:extLst>
              <a:ext uri="{FF2B5EF4-FFF2-40B4-BE49-F238E27FC236}">
                <a16:creationId xmlns:a16="http://schemas.microsoft.com/office/drawing/2014/main" id="{50744FAC-A868-473C-A214-B0A1F73C2C38}"/>
              </a:ext>
            </a:extLst>
          </p:cNvPr>
          <p:cNvSpPr/>
          <p:nvPr/>
        </p:nvSpPr>
        <p:spPr>
          <a:xfrm>
            <a:off x="7093529" y="4032547"/>
            <a:ext cx="914400" cy="129853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Accolade fermante 9">
            <a:extLst>
              <a:ext uri="{FF2B5EF4-FFF2-40B4-BE49-F238E27FC236}">
                <a16:creationId xmlns:a16="http://schemas.microsoft.com/office/drawing/2014/main" id="{865FB8F0-5CCC-4A11-87F7-F6D073DF98EF}"/>
              </a:ext>
            </a:extLst>
          </p:cNvPr>
          <p:cNvSpPr/>
          <p:nvPr/>
        </p:nvSpPr>
        <p:spPr>
          <a:xfrm>
            <a:off x="5430371" y="5250509"/>
            <a:ext cx="914400" cy="129853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8801666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A5A892-C262-462D-8C5E-B57E3DB46C27}"/>
              </a:ext>
            </a:extLst>
          </p:cNvPr>
          <p:cNvSpPr>
            <a:spLocks noGrp="1"/>
          </p:cNvSpPr>
          <p:nvPr>
            <p:ph type="title"/>
          </p:nvPr>
        </p:nvSpPr>
        <p:spPr/>
        <p:txBody>
          <a:bodyPr/>
          <a:lstStyle/>
          <a:p>
            <a:r>
              <a:rPr lang="en-US" dirty="0"/>
              <a:t>Multiple treated groups </a:t>
            </a:r>
          </a:p>
        </p:txBody>
      </p:sp>
      <p:sp>
        <p:nvSpPr>
          <p:cNvPr id="3" name="Espace réservé du contenu 2">
            <a:extLst>
              <a:ext uri="{FF2B5EF4-FFF2-40B4-BE49-F238E27FC236}">
                <a16:creationId xmlns:a16="http://schemas.microsoft.com/office/drawing/2014/main" id="{A2BC040D-7769-4C5B-9AA7-BE9DF9D1C92D}"/>
              </a:ext>
            </a:extLst>
          </p:cNvPr>
          <p:cNvSpPr>
            <a:spLocks noGrp="1"/>
          </p:cNvSpPr>
          <p:nvPr>
            <p:ph idx="1"/>
          </p:nvPr>
        </p:nvSpPr>
        <p:spPr/>
        <p:txBody>
          <a:bodyPr>
            <a:normAutofit lnSpcReduction="10000"/>
          </a:bodyPr>
          <a:lstStyle/>
          <a:p>
            <a:r>
              <a:rPr lang="en-US" sz="2400" dirty="0"/>
              <a:t>When dealing with multiple treated units, there are two distinct settings: </a:t>
            </a:r>
          </a:p>
          <a:p>
            <a:pPr lvl="1"/>
            <a:r>
              <a:rPr lang="en-US" sz="2000" dirty="0"/>
              <a:t>All treated units received the intervention of interest at the same time </a:t>
            </a:r>
          </a:p>
          <a:p>
            <a:pPr lvl="2"/>
            <a:r>
              <a:rPr lang="en-US" sz="1800" dirty="0"/>
              <a:t>Covered today</a:t>
            </a:r>
          </a:p>
          <a:p>
            <a:pPr lvl="1"/>
            <a:r>
              <a:rPr lang="en-US" sz="2000" dirty="0"/>
              <a:t>Treated units received the intervention at different times </a:t>
            </a:r>
          </a:p>
          <a:p>
            <a:pPr lvl="2"/>
            <a:r>
              <a:rPr lang="en-US" sz="1800" dirty="0"/>
              <a:t>Not covered today</a:t>
            </a:r>
          </a:p>
          <a:p>
            <a:r>
              <a:rPr lang="en-US" sz="2400" dirty="0"/>
              <a:t>When multiple units receive the intervention at the same time:</a:t>
            </a:r>
          </a:p>
          <a:p>
            <a:pPr lvl="1"/>
            <a:r>
              <a:rPr lang="en-US" sz="2000" dirty="0"/>
              <a:t>A simple approach is to estimate a separate ATT for each treated unit and then conduct a meta-analysis to get a pooled estimate (and information about heterogeneity across units)</a:t>
            </a:r>
          </a:p>
          <a:p>
            <a:pPr lvl="1"/>
            <a:r>
              <a:rPr lang="en-US" sz="2000" dirty="0"/>
              <a:t>Or aggregate the treated units and form a synthetic control for the aggregated treated unit (Acemoglu et al. 2013; Dube and </a:t>
            </a:r>
            <a:r>
              <a:rPr lang="en-US" sz="2000" dirty="0" err="1"/>
              <a:t>Zipperer</a:t>
            </a:r>
            <a:r>
              <a:rPr lang="en-US" sz="2000" dirty="0"/>
              <a:t>, 2015)</a:t>
            </a:r>
          </a:p>
        </p:txBody>
      </p:sp>
    </p:spTree>
    <p:extLst>
      <p:ext uri="{BB962C8B-B14F-4D97-AF65-F5344CB8AC3E}">
        <p14:creationId xmlns:p14="http://schemas.microsoft.com/office/powerpoint/2010/main" val="6959032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9"/>
          <p:cNvSpPr txBox="1">
            <a:spLocks noGrp="1"/>
          </p:cNvSpPr>
          <p:nvPr>
            <p:ph type="title"/>
          </p:nvPr>
        </p:nvSpPr>
        <p:spPr>
          <a:xfrm>
            <a:off x="622404" y="757950"/>
            <a:ext cx="10251600" cy="713600"/>
          </a:xfrm>
          <a:prstGeom prst="rect">
            <a:avLst/>
          </a:prstGeom>
        </p:spPr>
        <p:txBody>
          <a:bodyPr spcFirstLastPara="1" vert="horz" wrap="square" lIns="121900" tIns="121900" rIns="121900" bIns="121900" rtlCol="0" anchor="t" anchorCtr="0">
            <a:noAutofit/>
          </a:bodyPr>
          <a:lstStyle/>
          <a:p>
            <a:r>
              <a:rPr lang="en-US" b="1" dirty="0">
                <a:solidFill>
                  <a:schemeClr val="tx1"/>
                </a:solidFill>
              </a:rPr>
              <a:t>Extensions of traditional SC: Generalized Synthetic Control (GSC)</a:t>
            </a:r>
          </a:p>
        </p:txBody>
      </p:sp>
      <p:sp>
        <p:nvSpPr>
          <p:cNvPr id="125" name="Google Shape;125;p19"/>
          <p:cNvSpPr txBox="1">
            <a:spLocks noGrp="1"/>
          </p:cNvSpPr>
          <p:nvPr>
            <p:ph type="body" idx="1"/>
          </p:nvPr>
        </p:nvSpPr>
        <p:spPr>
          <a:xfrm>
            <a:off x="622404" y="1921600"/>
            <a:ext cx="10251600" cy="3014800"/>
          </a:xfrm>
          <a:prstGeom prst="rect">
            <a:avLst/>
          </a:prstGeom>
        </p:spPr>
        <p:txBody>
          <a:bodyPr spcFirstLastPara="1" vert="horz" wrap="square" lIns="121900" tIns="121900" rIns="121900" bIns="121900" rtlCol="0" anchor="t" anchorCtr="0">
            <a:noAutofit/>
          </a:bodyPr>
          <a:lstStyle/>
          <a:p>
            <a:pPr indent="0">
              <a:buNone/>
            </a:pPr>
            <a:endParaRPr lang="en-US" dirty="0"/>
          </a:p>
          <a:p>
            <a:pPr marL="0" indent="0">
              <a:spcBef>
                <a:spcPts val="2133"/>
              </a:spcBef>
              <a:buNone/>
            </a:pPr>
            <a:r>
              <a:rPr lang="en-US" dirty="0"/>
              <a:t>Xu et al. 2017 proposed generalized synthetic control (</a:t>
            </a:r>
            <a:r>
              <a:rPr lang="en-US" b="1" dirty="0"/>
              <a:t>GSC</a:t>
            </a:r>
            <a:r>
              <a:rPr lang="en-US" dirty="0"/>
              <a:t>): estimates the average treatment effect on the treated using time-series cross sectional data</a:t>
            </a:r>
          </a:p>
          <a:p>
            <a:pPr marL="0" indent="0">
              <a:spcBef>
                <a:spcPts val="2133"/>
              </a:spcBef>
              <a:buNone/>
            </a:pPr>
            <a:r>
              <a:rPr lang="en-US" b="1" dirty="0"/>
              <a:t>Improves efficiency and interpretability from SC, and can be used with multiple treated units and time varying confounders </a:t>
            </a:r>
          </a:p>
          <a:p>
            <a:pPr marL="0" indent="0">
              <a:spcBef>
                <a:spcPts val="2133"/>
              </a:spcBef>
              <a:buNone/>
            </a:pPr>
            <a:r>
              <a:rPr lang="en-US" dirty="0"/>
              <a:t>GSC overcomes limitations in SC:</a:t>
            </a:r>
          </a:p>
          <a:p>
            <a:pPr>
              <a:spcBef>
                <a:spcPts val="2133"/>
              </a:spcBef>
              <a:buFont typeface="Wingdings" panose="05000000000000000000" pitchFamily="2" charset="2"/>
              <a:buChar char="§"/>
            </a:pPr>
            <a:r>
              <a:rPr lang="en-US" dirty="0"/>
              <a:t>Only unbiased when weights yield exact balance on lagged outcomes (and unidirectional weights)</a:t>
            </a:r>
          </a:p>
          <a:p>
            <a:pPr>
              <a:buFont typeface="Wingdings" panose="05000000000000000000" pitchFamily="2" charset="2"/>
              <a:buChar char="§"/>
            </a:pPr>
            <a:r>
              <a:rPr lang="en-US" dirty="0"/>
              <a:t>Only handles one treated unit at a time</a:t>
            </a:r>
          </a:p>
          <a:p>
            <a:pPr>
              <a:buFont typeface="Wingdings" panose="05000000000000000000" pitchFamily="2" charset="2"/>
              <a:buChar char="§"/>
            </a:pPr>
            <a:r>
              <a:rPr lang="en-US" dirty="0"/>
              <a:t>Non-parametric: no formal measures of variance </a:t>
            </a:r>
          </a:p>
          <a:p>
            <a:pPr marL="0" indent="0">
              <a:spcBef>
                <a:spcPts val="2133"/>
              </a:spcBef>
              <a:buNone/>
            </a:pPr>
            <a:endParaRPr lang="en-US" b="1" dirty="0"/>
          </a:p>
          <a:p>
            <a:pPr marL="0" indent="0">
              <a:spcBef>
                <a:spcPts val="2133"/>
              </a:spcBef>
              <a:buNone/>
            </a:pPr>
            <a:r>
              <a:rPr lang="en-US" b="1" dirty="0"/>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a:spLocks noGrp="1"/>
          </p:cNvSpPr>
          <p:nvPr>
            <p:ph type="title"/>
          </p:nvPr>
        </p:nvSpPr>
        <p:spPr>
          <a:xfrm>
            <a:off x="153450" y="714567"/>
            <a:ext cx="10251600" cy="713600"/>
          </a:xfrm>
          <a:prstGeom prst="rect">
            <a:avLst/>
          </a:prstGeom>
        </p:spPr>
        <p:txBody>
          <a:bodyPr spcFirstLastPara="1" vert="horz" wrap="square" lIns="121900" tIns="121900" rIns="121900" bIns="121900" rtlCol="0" anchor="t" anchorCtr="0">
            <a:noAutofit/>
          </a:bodyPr>
          <a:lstStyle/>
          <a:p>
            <a:r>
              <a:rPr lang="en" b="1" dirty="0">
                <a:solidFill>
                  <a:schemeClr val="tx1"/>
                </a:solidFill>
              </a:rPr>
              <a:t>Advantages of GSC</a:t>
            </a:r>
            <a:endParaRPr b="1" dirty="0">
              <a:solidFill>
                <a:schemeClr val="tx1"/>
              </a:solidFill>
            </a:endParaRPr>
          </a:p>
        </p:txBody>
      </p:sp>
      <p:sp>
        <p:nvSpPr>
          <p:cNvPr id="137" name="Google Shape;137;p21"/>
          <p:cNvSpPr txBox="1">
            <a:spLocks noGrp="1"/>
          </p:cNvSpPr>
          <p:nvPr>
            <p:ph type="body" idx="1"/>
          </p:nvPr>
        </p:nvSpPr>
        <p:spPr>
          <a:xfrm>
            <a:off x="505875" y="2086033"/>
            <a:ext cx="10251600" cy="3014800"/>
          </a:xfrm>
          <a:prstGeom prst="rect">
            <a:avLst/>
          </a:prstGeom>
        </p:spPr>
        <p:txBody>
          <a:bodyPr spcFirstLastPara="1" vert="horz" wrap="square" lIns="121900" tIns="121900" rIns="121900" bIns="121900" rtlCol="0" anchor="t" anchorCtr="0">
            <a:noAutofit/>
          </a:bodyPr>
          <a:lstStyle/>
          <a:p>
            <a:pPr marL="0" indent="0">
              <a:buNone/>
            </a:pPr>
            <a:r>
              <a:rPr lang="en" sz="2800" dirty="0"/>
              <a:t>Traditional regression methods and SC are not well suited to estimate health impacts of extreme weather events (drought, heat wave, wildfire)</a:t>
            </a:r>
            <a:endParaRPr sz="2800" dirty="0"/>
          </a:p>
          <a:p>
            <a:pPr>
              <a:spcBef>
                <a:spcPts val="2133"/>
              </a:spcBef>
              <a:buFont typeface="Wingdings" panose="05000000000000000000" pitchFamily="2" charset="2"/>
              <a:buChar char="§"/>
            </a:pPr>
            <a:r>
              <a:rPr lang="en" sz="2800" dirty="0"/>
              <a:t>Time varying confounding: (e.g. temperature, air pollution, other weather events)</a:t>
            </a:r>
            <a:endParaRPr sz="2800" dirty="0"/>
          </a:p>
          <a:p>
            <a:pPr>
              <a:buFont typeface="Wingdings" panose="05000000000000000000" pitchFamily="2" charset="2"/>
              <a:buChar char="§"/>
            </a:pPr>
            <a:r>
              <a:rPr lang="en" sz="2800" dirty="0"/>
              <a:t>Widespread exposure - multiple exposed units</a:t>
            </a:r>
            <a:endParaRPr sz="2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5"/>
          <p:cNvSpPr txBox="1">
            <a:spLocks noGrp="1"/>
          </p:cNvSpPr>
          <p:nvPr>
            <p:ph type="title"/>
          </p:nvPr>
        </p:nvSpPr>
        <p:spPr>
          <a:xfrm>
            <a:off x="696375" y="618813"/>
            <a:ext cx="10251600" cy="713600"/>
          </a:xfrm>
          <a:prstGeom prst="rect">
            <a:avLst/>
          </a:prstGeom>
        </p:spPr>
        <p:txBody>
          <a:bodyPr spcFirstLastPara="1" vert="horz" wrap="square" lIns="121900" tIns="121900" rIns="121900" bIns="121900" rtlCol="0" anchor="t" anchorCtr="0">
            <a:noAutofit/>
          </a:bodyPr>
          <a:lstStyle/>
          <a:p>
            <a:r>
              <a:rPr lang="en" b="1" dirty="0">
                <a:solidFill>
                  <a:schemeClr val="tx1"/>
                </a:solidFill>
              </a:rPr>
              <a:t>Estimation Steps</a:t>
            </a:r>
            <a:endParaRPr b="1" dirty="0">
              <a:solidFill>
                <a:schemeClr val="tx1"/>
              </a:solidFill>
            </a:endParaRPr>
          </a:p>
        </p:txBody>
      </p:sp>
      <p:sp>
        <p:nvSpPr>
          <p:cNvPr id="165" name="Google Shape;165;p25"/>
          <p:cNvSpPr txBox="1">
            <a:spLocks noGrp="1"/>
          </p:cNvSpPr>
          <p:nvPr>
            <p:ph type="body" idx="1"/>
          </p:nvPr>
        </p:nvSpPr>
        <p:spPr>
          <a:xfrm>
            <a:off x="608250" y="1809667"/>
            <a:ext cx="6059600" cy="3014800"/>
          </a:xfrm>
          <a:prstGeom prst="rect">
            <a:avLst/>
          </a:prstGeom>
        </p:spPr>
        <p:txBody>
          <a:bodyPr spcFirstLastPara="1" vert="horz" wrap="square" lIns="121900" tIns="121900" rIns="121900" bIns="121900" rtlCol="0" anchor="t" anchorCtr="0">
            <a:noAutofit/>
          </a:bodyPr>
          <a:lstStyle/>
          <a:p>
            <a:pPr marL="0" indent="0">
              <a:lnSpc>
                <a:spcPct val="100000"/>
              </a:lnSpc>
              <a:buNone/>
            </a:pPr>
            <a:r>
              <a:rPr lang="en" dirty="0"/>
              <a:t>Estimation can be thought of as an out of sample prediction: </a:t>
            </a:r>
            <a:endParaRPr dirty="0"/>
          </a:p>
          <a:p>
            <a:pPr>
              <a:lnSpc>
                <a:spcPct val="115000"/>
              </a:lnSpc>
              <a:spcBef>
                <a:spcPts val="2133"/>
              </a:spcBef>
              <a:buAutoNum type="arabicParenR"/>
            </a:pPr>
            <a:r>
              <a:rPr lang="en" dirty="0"/>
              <a:t>Estimate an interactive fixed effects model using only control group data to obtain latent factors</a:t>
            </a:r>
            <a:endParaRPr dirty="0"/>
          </a:p>
          <a:p>
            <a:pPr>
              <a:lnSpc>
                <a:spcPct val="115000"/>
              </a:lnSpc>
              <a:buAutoNum type="arabicParenR"/>
            </a:pPr>
            <a:r>
              <a:rPr lang="en" dirty="0"/>
              <a:t>Project factor loadings onto each of these factors for the treated unit</a:t>
            </a:r>
            <a:endParaRPr dirty="0"/>
          </a:p>
          <a:p>
            <a:pPr>
              <a:lnSpc>
                <a:spcPct val="115000"/>
              </a:lnSpc>
              <a:buAutoNum type="arabicParenR"/>
            </a:pPr>
            <a:r>
              <a:rPr lang="en" dirty="0"/>
              <a:t>Treated counterfactuals are estimated based on the estimated factors and factor loadings</a:t>
            </a:r>
            <a:endParaRPr dirty="0"/>
          </a:p>
          <a:p>
            <a:pPr indent="0">
              <a:spcBef>
                <a:spcPts val="2133"/>
              </a:spcBef>
              <a:spcAft>
                <a:spcPts val="2133"/>
              </a:spcAft>
              <a:buNone/>
            </a:pPr>
            <a:endParaRPr dirty="0"/>
          </a:p>
        </p:txBody>
      </p:sp>
      <p:pic>
        <p:nvPicPr>
          <p:cNvPr id="11" name="Google Shape;151;p23">
            <a:extLst>
              <a:ext uri="{FF2B5EF4-FFF2-40B4-BE49-F238E27FC236}">
                <a16:creationId xmlns:a16="http://schemas.microsoft.com/office/drawing/2014/main" id="{1A4CA03A-F6E2-414C-8DB6-238B783D7B08}"/>
              </a:ext>
            </a:extLst>
          </p:cNvPr>
          <p:cNvPicPr preferRelativeResize="0"/>
          <p:nvPr/>
        </p:nvPicPr>
        <p:blipFill>
          <a:blip r:embed="rId3">
            <a:alphaModFix/>
          </a:blip>
          <a:stretch>
            <a:fillRect/>
          </a:stretch>
        </p:blipFill>
        <p:spPr>
          <a:xfrm>
            <a:off x="7826631" y="1957424"/>
            <a:ext cx="3571783" cy="584337"/>
          </a:xfrm>
          <a:prstGeom prst="rect">
            <a:avLst/>
          </a:prstGeom>
          <a:noFill/>
          <a:ln>
            <a:noFill/>
          </a:ln>
        </p:spPr>
      </p:pic>
      <p:sp>
        <p:nvSpPr>
          <p:cNvPr id="12" name="ZoneTexte 11">
            <a:extLst>
              <a:ext uri="{FF2B5EF4-FFF2-40B4-BE49-F238E27FC236}">
                <a16:creationId xmlns:a16="http://schemas.microsoft.com/office/drawing/2014/main" id="{0C26AEA0-2E01-4B96-B26F-2F8A566C4B31}"/>
              </a:ext>
            </a:extLst>
          </p:cNvPr>
          <p:cNvSpPr txBox="1"/>
          <p:nvPr/>
        </p:nvSpPr>
        <p:spPr>
          <a:xfrm>
            <a:off x="8311437" y="2493846"/>
            <a:ext cx="2934122" cy="1200329"/>
          </a:xfrm>
          <a:prstGeom prst="rect">
            <a:avLst/>
          </a:prstGeom>
          <a:noFill/>
        </p:spPr>
        <p:txBody>
          <a:bodyPr wrap="square">
            <a:spAutoFit/>
          </a:bodyPr>
          <a:lstStyle/>
          <a:p>
            <a:pPr>
              <a:spcBef>
                <a:spcPts val="2133"/>
              </a:spcBef>
              <a:buFont typeface="Wingdings" panose="05000000000000000000" pitchFamily="2" charset="2"/>
              <a:buChar char="§"/>
            </a:pPr>
            <a:r>
              <a:rPr lang="en-US" dirty="0" err="1"/>
              <a:t>D</a:t>
            </a:r>
            <a:r>
              <a:rPr lang="en-US" baseline="-25000" dirty="0" err="1"/>
              <a:t>it</a:t>
            </a:r>
            <a:r>
              <a:rPr lang="en-US" dirty="0"/>
              <a:t> treatment indicator</a:t>
            </a:r>
          </a:p>
          <a:p>
            <a:pPr>
              <a:buFont typeface="Wingdings" panose="05000000000000000000" pitchFamily="2" charset="2"/>
              <a:buChar char="§"/>
            </a:pPr>
            <a:r>
              <a:rPr lang="en-US" dirty="0" err="1"/>
              <a:t>x</a:t>
            </a:r>
            <a:r>
              <a:rPr lang="en-US" baseline="-25000" dirty="0" err="1"/>
              <a:t>it</a:t>
            </a:r>
            <a:r>
              <a:rPr lang="en-US" dirty="0"/>
              <a:t> observed covariates</a:t>
            </a:r>
          </a:p>
          <a:p>
            <a:pPr>
              <a:buFont typeface="Wingdings" panose="05000000000000000000" pitchFamily="2" charset="2"/>
              <a:buChar char="§"/>
            </a:pPr>
            <a:r>
              <a:rPr lang="en-US" dirty="0"/>
              <a:t>f</a:t>
            </a:r>
            <a:r>
              <a:rPr lang="en-US" baseline="-25000" dirty="0"/>
              <a:t>t</a:t>
            </a:r>
            <a:r>
              <a:rPr lang="en-US" dirty="0"/>
              <a:t> latent factors</a:t>
            </a:r>
          </a:p>
          <a:p>
            <a:pPr>
              <a:buFont typeface="Wingdings" panose="05000000000000000000" pitchFamily="2" charset="2"/>
              <a:buChar char="§"/>
            </a:pPr>
            <a:r>
              <a:rPr lang="en-US" dirty="0" err="1"/>
              <a:t>λ</a:t>
            </a:r>
            <a:r>
              <a:rPr lang="en-US" baseline="-25000" dirty="0" err="1"/>
              <a:t>i</a:t>
            </a:r>
            <a:r>
              <a:rPr lang="en-US" baseline="-25000" dirty="0"/>
              <a:t> </a:t>
            </a:r>
            <a:r>
              <a:rPr lang="en-US" dirty="0"/>
              <a:t>factor loadings</a:t>
            </a:r>
          </a:p>
        </p:txBody>
      </p:sp>
      <p:pic>
        <p:nvPicPr>
          <p:cNvPr id="13" name="Google Shape;159;p24">
            <a:extLst>
              <a:ext uri="{FF2B5EF4-FFF2-40B4-BE49-F238E27FC236}">
                <a16:creationId xmlns:a16="http://schemas.microsoft.com/office/drawing/2014/main" id="{4D906713-3DC4-4C16-99A3-9004876538BB}"/>
              </a:ext>
            </a:extLst>
          </p:cNvPr>
          <p:cNvPicPr preferRelativeResize="0"/>
          <p:nvPr/>
        </p:nvPicPr>
        <p:blipFill>
          <a:blip r:embed="rId4">
            <a:alphaModFix/>
          </a:blip>
          <a:stretch>
            <a:fillRect/>
          </a:stretch>
        </p:blipFill>
        <p:spPr>
          <a:xfrm>
            <a:off x="7661617" y="4002065"/>
            <a:ext cx="3803833" cy="1229900"/>
          </a:xfrm>
          <a:prstGeom prst="rect">
            <a:avLst/>
          </a:prstGeom>
          <a:noFill/>
          <a:ln>
            <a:noFill/>
          </a:ln>
        </p:spPr>
      </p:pic>
      <p:pic>
        <p:nvPicPr>
          <p:cNvPr id="14" name="Image 13">
            <a:extLst>
              <a:ext uri="{FF2B5EF4-FFF2-40B4-BE49-F238E27FC236}">
                <a16:creationId xmlns:a16="http://schemas.microsoft.com/office/drawing/2014/main" id="{9B909C51-F9E7-4420-9154-DF4FEF5F2300}"/>
              </a:ext>
            </a:extLst>
          </p:cNvPr>
          <p:cNvPicPr>
            <a:picLocks noChangeAspect="1"/>
          </p:cNvPicPr>
          <p:nvPr/>
        </p:nvPicPr>
        <p:blipFill rotWithShape="1">
          <a:blip r:embed="rId5"/>
          <a:srcRect l="38590" r="33847"/>
          <a:stretch/>
        </p:blipFill>
        <p:spPr>
          <a:xfrm>
            <a:off x="7951519" y="5679750"/>
            <a:ext cx="3653959" cy="69361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7"/>
          <p:cNvSpPr txBox="1">
            <a:spLocks noGrp="1"/>
          </p:cNvSpPr>
          <p:nvPr>
            <p:ph type="title"/>
          </p:nvPr>
        </p:nvSpPr>
        <p:spPr>
          <a:xfrm>
            <a:off x="350030" y="464422"/>
            <a:ext cx="10251600" cy="713600"/>
          </a:xfrm>
          <a:prstGeom prst="rect">
            <a:avLst/>
          </a:prstGeom>
        </p:spPr>
        <p:txBody>
          <a:bodyPr spcFirstLastPara="1" vert="horz" wrap="square" lIns="121900" tIns="121900" rIns="121900" bIns="121900" rtlCol="0" anchor="t" anchorCtr="0">
            <a:noAutofit/>
          </a:bodyPr>
          <a:lstStyle/>
          <a:p>
            <a:r>
              <a:rPr lang="en" b="1" dirty="0">
                <a:solidFill>
                  <a:schemeClr val="tx1"/>
                </a:solidFill>
              </a:rPr>
              <a:t>Case Study: 2007 Southern California Wildfires on respiratory hospitalizations </a:t>
            </a:r>
            <a:r>
              <a:rPr lang="en" sz="2400" b="1" dirty="0">
                <a:solidFill>
                  <a:schemeClr val="tx1"/>
                </a:solidFill>
              </a:rPr>
              <a:t>[Sheridan et al. ]</a:t>
            </a:r>
            <a:endParaRPr b="1" dirty="0">
              <a:solidFill>
                <a:schemeClr val="tx1"/>
              </a:solidFill>
            </a:endParaRPr>
          </a:p>
        </p:txBody>
      </p:sp>
      <p:sp>
        <p:nvSpPr>
          <p:cNvPr id="181" name="Google Shape;181;p27"/>
          <p:cNvSpPr txBox="1">
            <a:spLocks noGrp="1"/>
          </p:cNvSpPr>
          <p:nvPr>
            <p:ph type="body" idx="1"/>
          </p:nvPr>
        </p:nvSpPr>
        <p:spPr>
          <a:xfrm>
            <a:off x="663729" y="2002371"/>
            <a:ext cx="10251600" cy="3014800"/>
          </a:xfrm>
          <a:prstGeom prst="rect">
            <a:avLst/>
          </a:prstGeom>
        </p:spPr>
        <p:txBody>
          <a:bodyPr spcFirstLastPara="1" vert="horz" wrap="square" lIns="121900" tIns="121900" rIns="121900" bIns="121900" rtlCol="0" anchor="t" anchorCtr="0">
            <a:noAutofit/>
          </a:bodyPr>
          <a:lstStyle/>
          <a:p>
            <a:pPr marL="0" indent="0">
              <a:buNone/>
            </a:pPr>
            <a:r>
              <a:rPr lang="en" dirty="0"/>
              <a:t>As the climate changes, wildfires are expected to increase in frequency, intensity and duration (especially in California)</a:t>
            </a:r>
            <a:endParaRPr dirty="0"/>
          </a:p>
          <a:p>
            <a:pPr marL="0" indent="0">
              <a:spcBef>
                <a:spcPts val="2133"/>
              </a:spcBef>
              <a:buNone/>
            </a:pPr>
            <a:r>
              <a:rPr lang="en" dirty="0"/>
              <a:t>In this case study we use:</a:t>
            </a:r>
            <a:endParaRPr dirty="0"/>
          </a:p>
          <a:p>
            <a:pPr>
              <a:spcBef>
                <a:spcPts val="2133"/>
              </a:spcBef>
              <a:buFont typeface="Wingdings" panose="05000000000000000000" pitchFamily="2" charset="2"/>
              <a:buChar char="§"/>
            </a:pPr>
            <a:r>
              <a:rPr lang="en" dirty="0"/>
              <a:t>Satellite based smoke plume data and burn area data to classify wildfire exposure</a:t>
            </a:r>
            <a:endParaRPr dirty="0"/>
          </a:p>
          <a:p>
            <a:pPr>
              <a:buFont typeface="Wingdings" panose="05000000000000000000" pitchFamily="2" charset="2"/>
              <a:buChar char="§"/>
            </a:pPr>
            <a:r>
              <a:rPr lang="en" dirty="0"/>
              <a:t>OSHPD respiratory hospitalization data by zip code for outcome</a:t>
            </a:r>
            <a:endParaRPr dirty="0"/>
          </a:p>
          <a:p>
            <a:pPr marL="342900" indent="-342900">
              <a:spcBef>
                <a:spcPts val="2133"/>
              </a:spcBef>
              <a:buFont typeface="Wingdings" panose="05000000000000000000" pitchFamily="2" charset="2"/>
              <a:buChar char="§"/>
            </a:pPr>
            <a:endParaRPr dirty="0"/>
          </a:p>
          <a:p>
            <a:pPr marL="0" indent="0">
              <a:spcBef>
                <a:spcPts val="2133"/>
              </a:spcBef>
              <a:spcAft>
                <a:spcPts val="2133"/>
              </a:spcAft>
              <a:buNone/>
            </a:pP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8"/>
          <p:cNvSpPr txBox="1">
            <a:spLocks noGrp="1"/>
          </p:cNvSpPr>
          <p:nvPr>
            <p:ph type="title"/>
          </p:nvPr>
        </p:nvSpPr>
        <p:spPr>
          <a:xfrm>
            <a:off x="527033" y="638211"/>
            <a:ext cx="5463200" cy="713600"/>
          </a:xfrm>
          <a:prstGeom prst="rect">
            <a:avLst/>
          </a:prstGeom>
        </p:spPr>
        <p:txBody>
          <a:bodyPr spcFirstLastPara="1" vert="horz" wrap="square" lIns="121900" tIns="121900" rIns="121900" bIns="121900" rtlCol="0" anchor="t" anchorCtr="0">
            <a:noAutofit/>
          </a:bodyPr>
          <a:lstStyle/>
          <a:p>
            <a:r>
              <a:rPr lang="en" b="1" dirty="0">
                <a:solidFill>
                  <a:schemeClr val="tx1"/>
                </a:solidFill>
              </a:rPr>
              <a:t>Results</a:t>
            </a:r>
            <a:endParaRPr b="1" dirty="0">
              <a:solidFill>
                <a:schemeClr val="tx1"/>
              </a:solidFill>
            </a:endParaRPr>
          </a:p>
        </p:txBody>
      </p:sp>
      <p:sp>
        <p:nvSpPr>
          <p:cNvPr id="188" name="Google Shape;188;p28"/>
          <p:cNvSpPr txBox="1"/>
          <p:nvPr/>
        </p:nvSpPr>
        <p:spPr>
          <a:xfrm>
            <a:off x="1264033" y="2779067"/>
            <a:ext cx="3989200" cy="3101600"/>
          </a:xfrm>
          <a:prstGeom prst="rect">
            <a:avLst/>
          </a:prstGeom>
          <a:noFill/>
          <a:ln>
            <a:noFill/>
          </a:ln>
        </p:spPr>
        <p:txBody>
          <a:bodyPr spcFirstLastPara="1" wrap="square" lIns="121900" tIns="121900" rIns="121900" bIns="121900" anchor="t" anchorCtr="0">
            <a:noAutofit/>
          </a:bodyPr>
          <a:lstStyle/>
          <a:p>
            <a:r>
              <a:rPr lang="en" sz="2400">
                <a:latin typeface="Lato"/>
                <a:ea typeface="Lato"/>
                <a:cs typeface="Lato"/>
                <a:sym typeface="Lato"/>
              </a:rPr>
              <a:t>Out of 1779 zip code tabulation areas in California</a:t>
            </a:r>
            <a:endParaRPr sz="2400">
              <a:latin typeface="Lato"/>
              <a:ea typeface="Lato"/>
              <a:cs typeface="Lato"/>
              <a:sym typeface="Lato"/>
            </a:endParaRPr>
          </a:p>
          <a:p>
            <a:endParaRPr sz="2400">
              <a:latin typeface="Lato"/>
              <a:ea typeface="Lato"/>
              <a:cs typeface="Lato"/>
              <a:sym typeface="Lato"/>
            </a:endParaRPr>
          </a:p>
          <a:p>
            <a:r>
              <a:rPr lang="en" sz="2400">
                <a:latin typeface="Lato"/>
                <a:ea typeface="Lato"/>
                <a:cs typeface="Lato"/>
                <a:sym typeface="Lato"/>
              </a:rPr>
              <a:t>685 were included:</a:t>
            </a:r>
            <a:endParaRPr sz="2400">
              <a:latin typeface="Lato"/>
              <a:ea typeface="Lato"/>
              <a:cs typeface="Lato"/>
              <a:sym typeface="Lato"/>
            </a:endParaRPr>
          </a:p>
          <a:p>
            <a:pPr marL="609585" indent="-423323">
              <a:buSzPts val="1400"/>
              <a:buFont typeface="Lato"/>
              <a:buChar char="●"/>
            </a:pPr>
            <a:r>
              <a:rPr lang="en" sz="2400">
                <a:latin typeface="Lato"/>
                <a:ea typeface="Lato"/>
                <a:cs typeface="Lato"/>
                <a:sym typeface="Lato"/>
              </a:rPr>
              <a:t>130 exposed</a:t>
            </a:r>
            <a:endParaRPr sz="2400">
              <a:latin typeface="Lato"/>
              <a:ea typeface="Lato"/>
              <a:cs typeface="Lato"/>
              <a:sym typeface="Lato"/>
            </a:endParaRPr>
          </a:p>
          <a:p>
            <a:pPr marL="609585" indent="-423323">
              <a:buSzPts val="1400"/>
              <a:buFont typeface="Lato"/>
              <a:buChar char="●"/>
            </a:pPr>
            <a:r>
              <a:rPr lang="en" sz="2400">
                <a:latin typeface="Lato"/>
                <a:ea typeface="Lato"/>
                <a:cs typeface="Lato"/>
                <a:sym typeface="Lato"/>
              </a:rPr>
              <a:t>555 unexposed</a:t>
            </a:r>
            <a:endParaRPr sz="2400">
              <a:latin typeface="Lato"/>
              <a:ea typeface="Lato"/>
              <a:cs typeface="Lato"/>
              <a:sym typeface="Lato"/>
            </a:endParaRPr>
          </a:p>
          <a:p>
            <a:endParaRPr sz="2400">
              <a:latin typeface="Lato"/>
              <a:ea typeface="Lato"/>
              <a:cs typeface="Lato"/>
              <a:sym typeface="Lato"/>
            </a:endParaRPr>
          </a:p>
        </p:txBody>
      </p:sp>
      <p:pic>
        <p:nvPicPr>
          <p:cNvPr id="5" name="Picture 2" descr="A close up of a map&#10;&#10;Description automatically generated">
            <a:extLst>
              <a:ext uri="{FF2B5EF4-FFF2-40B4-BE49-F238E27FC236}">
                <a16:creationId xmlns:a16="http://schemas.microsoft.com/office/drawing/2014/main" id="{43C6E5FB-2440-4E98-96D1-E4552B0F28BF}"/>
              </a:ext>
            </a:extLst>
          </p:cNvPr>
          <p:cNvPicPr/>
          <p:nvPr/>
        </p:nvPicPr>
        <p:blipFill>
          <a:blip r:embed="rId3">
            <a:extLst>
              <a:ext uri="{28A0092B-C50C-407E-A947-70E740481C1C}">
                <a14:useLocalDpi xmlns:a14="http://schemas.microsoft.com/office/drawing/2010/main" val="0"/>
              </a:ext>
            </a:extLst>
          </a:blip>
          <a:stretch>
            <a:fillRect/>
          </a:stretch>
        </p:blipFill>
        <p:spPr>
          <a:xfrm>
            <a:off x="5348462" y="1210355"/>
            <a:ext cx="5463200" cy="4975841"/>
          </a:xfrm>
          <a:prstGeom prst="rect">
            <a:avLst/>
          </a:prstGeom>
        </p:spPr>
      </p:pic>
      <p:sp>
        <p:nvSpPr>
          <p:cNvPr id="7" name="ZoneTexte 6">
            <a:extLst>
              <a:ext uri="{FF2B5EF4-FFF2-40B4-BE49-F238E27FC236}">
                <a16:creationId xmlns:a16="http://schemas.microsoft.com/office/drawing/2014/main" id="{59435CE1-8161-43B7-996D-0B9EA63A8BA8}"/>
              </a:ext>
            </a:extLst>
          </p:cNvPr>
          <p:cNvSpPr txBox="1"/>
          <p:nvPr/>
        </p:nvSpPr>
        <p:spPr>
          <a:xfrm>
            <a:off x="6435800" y="6186196"/>
            <a:ext cx="5373338" cy="572144"/>
          </a:xfrm>
          <a:prstGeom prst="rect">
            <a:avLst/>
          </a:prstGeom>
          <a:noFill/>
        </p:spPr>
        <p:txBody>
          <a:bodyPr wrap="square">
            <a:spAutoFit/>
          </a:bodyPr>
          <a:lstStyle/>
          <a:p>
            <a:pPr marL="0" marR="0">
              <a:lnSpc>
                <a:spcPct val="115000"/>
              </a:lnSpc>
              <a:spcBef>
                <a:spcPts val="0"/>
              </a:spcBef>
              <a:spcAft>
                <a:spcPts val="800"/>
              </a:spcAft>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Map of California zip codes exposed to wildfire smoke week of October 20</a:t>
            </a:r>
            <a:r>
              <a:rPr lang="en-US" sz="1400" b="1" baseline="30000" dirty="0">
                <a:effectLst/>
                <a:latin typeface="Times New Roman" panose="02020603050405020304" pitchFamily="18" charset="0"/>
                <a:ea typeface="Times New Roman" panose="02020603050405020304" pitchFamily="18" charset="0"/>
                <a:cs typeface="Times New Roman" panose="02020603050405020304" pitchFamily="18" charset="0"/>
              </a:rPr>
              <a:t>th</a:t>
            </a: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 2007.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5" name="Picture 13" descr="A close up of a piece of paper&#10;&#10;Description automatically generated">
            <a:extLst>
              <a:ext uri="{FF2B5EF4-FFF2-40B4-BE49-F238E27FC236}">
                <a16:creationId xmlns:a16="http://schemas.microsoft.com/office/drawing/2014/main" id="{08422261-5D9E-4188-83C2-84CCE5B3008F}"/>
              </a:ext>
            </a:extLst>
          </p:cNvPr>
          <p:cNvPicPr/>
          <p:nvPr/>
        </p:nvPicPr>
        <p:blipFill>
          <a:blip r:embed="rId3">
            <a:extLst>
              <a:ext uri="{28A0092B-C50C-407E-A947-70E740481C1C}">
                <a14:useLocalDpi xmlns:a14="http://schemas.microsoft.com/office/drawing/2010/main" val="0"/>
              </a:ext>
            </a:extLst>
          </a:blip>
          <a:stretch>
            <a:fillRect/>
          </a:stretch>
        </p:blipFill>
        <p:spPr>
          <a:xfrm>
            <a:off x="6686805" y="2322902"/>
            <a:ext cx="4393565" cy="3217545"/>
          </a:xfrm>
          <a:prstGeom prst="rect">
            <a:avLst/>
          </a:prstGeom>
        </p:spPr>
      </p:pic>
      <p:pic>
        <p:nvPicPr>
          <p:cNvPr id="6" name="Picture 14" descr="A close up of a map&#10;&#10;Description automatically generated">
            <a:extLst>
              <a:ext uri="{FF2B5EF4-FFF2-40B4-BE49-F238E27FC236}">
                <a16:creationId xmlns:a16="http://schemas.microsoft.com/office/drawing/2014/main" id="{F32F68D9-2A51-4E9F-9AFB-ADD95DC8AA0E}"/>
              </a:ext>
            </a:extLst>
          </p:cNvPr>
          <p:cNvPicPr/>
          <p:nvPr/>
        </p:nvPicPr>
        <p:blipFill>
          <a:blip r:embed="rId4">
            <a:extLst>
              <a:ext uri="{28A0092B-C50C-407E-A947-70E740481C1C}">
                <a14:useLocalDpi xmlns:a14="http://schemas.microsoft.com/office/drawing/2010/main" val="0"/>
              </a:ext>
            </a:extLst>
          </a:blip>
          <a:stretch>
            <a:fillRect/>
          </a:stretch>
        </p:blipFill>
        <p:spPr>
          <a:xfrm>
            <a:off x="484388" y="2574829"/>
            <a:ext cx="4507489" cy="3217545"/>
          </a:xfrm>
          <a:prstGeom prst="rect">
            <a:avLst/>
          </a:prstGeom>
        </p:spPr>
      </p:pic>
      <p:sp>
        <p:nvSpPr>
          <p:cNvPr id="8" name="ZoneTexte 7">
            <a:extLst>
              <a:ext uri="{FF2B5EF4-FFF2-40B4-BE49-F238E27FC236}">
                <a16:creationId xmlns:a16="http://schemas.microsoft.com/office/drawing/2014/main" id="{1D2EE855-F9A8-42CC-970B-B81E8D230A0A}"/>
              </a:ext>
            </a:extLst>
          </p:cNvPr>
          <p:cNvSpPr txBox="1"/>
          <p:nvPr/>
        </p:nvSpPr>
        <p:spPr>
          <a:xfrm>
            <a:off x="2436218" y="6035466"/>
            <a:ext cx="7613303" cy="584775"/>
          </a:xfrm>
          <a:prstGeom prst="rect">
            <a:avLst/>
          </a:prstGeom>
          <a:noFill/>
        </p:spPr>
        <p:txBody>
          <a:bodyPr wrap="square">
            <a:spAutoFit/>
          </a:bodyPr>
          <a:lstStyle/>
          <a:p>
            <a:r>
              <a:rPr lang="en-US" sz="1600" dirty="0">
                <a:effectLst/>
                <a:latin typeface="Times New Roman" panose="02020603050405020304" pitchFamily="18" charset="0"/>
                <a:ea typeface="Calibri" panose="020F0502020204030204" pitchFamily="34" charset="0"/>
              </a:rPr>
              <a:t>We found an 18% </a:t>
            </a:r>
            <a:r>
              <a:rPr lang="en-US" sz="1600" dirty="0">
                <a:effectLst/>
                <a:latin typeface="Times New Roman" panose="02020603050405020304" pitchFamily="18" charset="0"/>
                <a:ea typeface="Times New Roman" panose="02020603050405020304" pitchFamily="18" charset="0"/>
              </a:rPr>
              <a:t>(95%CI: 10%-29%) </a:t>
            </a:r>
            <a:r>
              <a:rPr lang="en-US" sz="1600" dirty="0">
                <a:effectLst/>
                <a:latin typeface="Times New Roman" panose="02020603050405020304" pitchFamily="18" charset="0"/>
                <a:ea typeface="Calibri" panose="020F0502020204030204" pitchFamily="34" charset="0"/>
              </a:rPr>
              <a:t>average increase in respiratory hospitalizations as a result of the wildfire storm</a:t>
            </a:r>
            <a:endParaRPr lang="en-US" sz="1600" dirty="0"/>
          </a:p>
        </p:txBody>
      </p:sp>
      <p:sp>
        <p:nvSpPr>
          <p:cNvPr id="9" name="Google Shape;186;p28">
            <a:extLst>
              <a:ext uri="{FF2B5EF4-FFF2-40B4-BE49-F238E27FC236}">
                <a16:creationId xmlns:a16="http://schemas.microsoft.com/office/drawing/2014/main" id="{03EC18C6-124C-4D5A-AE21-8661C93229A4}"/>
              </a:ext>
            </a:extLst>
          </p:cNvPr>
          <p:cNvSpPr txBox="1">
            <a:spLocks/>
          </p:cNvSpPr>
          <p:nvPr/>
        </p:nvSpPr>
        <p:spPr>
          <a:xfrm>
            <a:off x="527033" y="638211"/>
            <a:ext cx="5463200" cy="713600"/>
          </a:xfrm>
          <a:prstGeom prst="rect">
            <a:avLst/>
          </a:prstGeom>
        </p:spPr>
        <p:txBody>
          <a:bodyPr spcFirstLastPara="1" vert="horz" wrap="square" lIns="121900" tIns="121900" rIns="121900" bIns="121900" rtlCol="0" anchor="t" anchorCtr="0">
            <a:noAutofit/>
          </a:bodyPr>
          <a:lstStyle>
            <a:lvl1pPr lvl="0" algn="l" defTabSz="914400" rtl="0" eaLnBrk="1" latinLnBrk="0" hangingPunct="1">
              <a:lnSpc>
                <a:spcPct val="90000"/>
              </a:lnSpc>
              <a:spcBef>
                <a:spcPts val="0"/>
              </a:spcBef>
              <a:spcAft>
                <a:spcPts val="0"/>
              </a:spcAft>
              <a:buClr>
                <a:schemeClr val="dk2"/>
              </a:buClr>
              <a:buSzPts val="2600"/>
              <a:buNone/>
              <a:defRPr sz="3467" kern="1200" cap="all" baseline="0">
                <a:solidFill>
                  <a:schemeClr val="dk2"/>
                </a:solidFill>
                <a:latin typeface="+mj-lt"/>
                <a:ea typeface="+mj-ea"/>
                <a:cs typeface="+mj-cs"/>
              </a:defRPr>
            </a:lvl1pPr>
            <a:lvl2pPr lvl="1">
              <a:spcBef>
                <a:spcPts val="0"/>
              </a:spcBef>
              <a:spcAft>
                <a:spcPts val="0"/>
              </a:spcAft>
              <a:buClr>
                <a:schemeClr val="dk2"/>
              </a:buClr>
              <a:buSzPts val="2600"/>
              <a:buNone/>
              <a:defRPr sz="3467">
                <a:solidFill>
                  <a:schemeClr val="dk2"/>
                </a:solidFill>
              </a:defRPr>
            </a:lvl2pPr>
            <a:lvl3pPr lvl="2">
              <a:spcBef>
                <a:spcPts val="0"/>
              </a:spcBef>
              <a:spcAft>
                <a:spcPts val="0"/>
              </a:spcAft>
              <a:buClr>
                <a:schemeClr val="dk2"/>
              </a:buClr>
              <a:buSzPts val="2600"/>
              <a:buNone/>
              <a:defRPr sz="3467">
                <a:solidFill>
                  <a:schemeClr val="dk2"/>
                </a:solidFill>
              </a:defRPr>
            </a:lvl3pPr>
            <a:lvl4pPr lvl="3">
              <a:spcBef>
                <a:spcPts val="0"/>
              </a:spcBef>
              <a:spcAft>
                <a:spcPts val="0"/>
              </a:spcAft>
              <a:buClr>
                <a:schemeClr val="dk2"/>
              </a:buClr>
              <a:buSzPts val="2600"/>
              <a:buNone/>
              <a:defRPr sz="3467">
                <a:solidFill>
                  <a:schemeClr val="dk2"/>
                </a:solidFill>
              </a:defRPr>
            </a:lvl4pPr>
            <a:lvl5pPr lvl="4">
              <a:spcBef>
                <a:spcPts val="0"/>
              </a:spcBef>
              <a:spcAft>
                <a:spcPts val="0"/>
              </a:spcAft>
              <a:buClr>
                <a:schemeClr val="dk2"/>
              </a:buClr>
              <a:buSzPts val="2600"/>
              <a:buNone/>
              <a:defRPr sz="3467">
                <a:solidFill>
                  <a:schemeClr val="dk2"/>
                </a:solidFill>
              </a:defRPr>
            </a:lvl5pPr>
            <a:lvl6pPr lvl="5">
              <a:spcBef>
                <a:spcPts val="0"/>
              </a:spcBef>
              <a:spcAft>
                <a:spcPts val="0"/>
              </a:spcAft>
              <a:buClr>
                <a:schemeClr val="dk2"/>
              </a:buClr>
              <a:buSzPts val="2600"/>
              <a:buNone/>
              <a:defRPr sz="3467">
                <a:solidFill>
                  <a:schemeClr val="dk2"/>
                </a:solidFill>
              </a:defRPr>
            </a:lvl6pPr>
            <a:lvl7pPr lvl="6">
              <a:spcBef>
                <a:spcPts val="0"/>
              </a:spcBef>
              <a:spcAft>
                <a:spcPts val="0"/>
              </a:spcAft>
              <a:buClr>
                <a:schemeClr val="dk2"/>
              </a:buClr>
              <a:buSzPts val="2600"/>
              <a:buNone/>
              <a:defRPr sz="3467">
                <a:solidFill>
                  <a:schemeClr val="dk2"/>
                </a:solidFill>
              </a:defRPr>
            </a:lvl7pPr>
            <a:lvl8pPr lvl="7">
              <a:spcBef>
                <a:spcPts val="0"/>
              </a:spcBef>
              <a:spcAft>
                <a:spcPts val="0"/>
              </a:spcAft>
              <a:buClr>
                <a:schemeClr val="dk2"/>
              </a:buClr>
              <a:buSzPts val="2600"/>
              <a:buNone/>
              <a:defRPr sz="3467">
                <a:solidFill>
                  <a:schemeClr val="dk2"/>
                </a:solidFill>
              </a:defRPr>
            </a:lvl8pPr>
            <a:lvl9pPr lvl="8">
              <a:spcBef>
                <a:spcPts val="0"/>
              </a:spcBef>
              <a:spcAft>
                <a:spcPts val="0"/>
              </a:spcAft>
              <a:buClr>
                <a:schemeClr val="dk2"/>
              </a:buClr>
              <a:buSzPts val="2600"/>
              <a:buNone/>
              <a:defRPr sz="3467">
                <a:solidFill>
                  <a:schemeClr val="dk2"/>
                </a:solidFill>
              </a:defRPr>
            </a:lvl9pPr>
          </a:lstStyle>
          <a:p>
            <a:r>
              <a:rPr lang="en-US" b="1">
                <a:solidFill>
                  <a:schemeClr val="tx1"/>
                </a:solidFill>
              </a:rPr>
              <a:t>Results</a:t>
            </a:r>
            <a:endParaRPr lang="en-US" b="1" dirty="0">
              <a:solidFill>
                <a:schemeClr val="tx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055847-0AA2-48C5-8FEB-104B9703453E}"/>
              </a:ext>
            </a:extLst>
          </p:cNvPr>
          <p:cNvSpPr>
            <a:spLocks noGrp="1"/>
          </p:cNvSpPr>
          <p:nvPr>
            <p:ph type="title"/>
          </p:nvPr>
        </p:nvSpPr>
        <p:spPr>
          <a:xfrm>
            <a:off x="526923" y="227457"/>
            <a:ext cx="10058400" cy="1609344"/>
          </a:xfrm>
        </p:spPr>
        <p:txBody>
          <a:bodyPr/>
          <a:lstStyle/>
          <a:p>
            <a:r>
              <a:rPr lang="en-US" dirty="0"/>
              <a:t>The importance of falsification tests</a:t>
            </a:r>
          </a:p>
        </p:txBody>
      </p:sp>
      <p:sp>
        <p:nvSpPr>
          <p:cNvPr id="3" name="Espace réservé du contenu 2">
            <a:extLst>
              <a:ext uri="{FF2B5EF4-FFF2-40B4-BE49-F238E27FC236}">
                <a16:creationId xmlns:a16="http://schemas.microsoft.com/office/drawing/2014/main" id="{DFD07FE9-8D16-4983-85E0-2D277735D9BD}"/>
              </a:ext>
            </a:extLst>
          </p:cNvPr>
          <p:cNvSpPr>
            <a:spLocks noGrp="1"/>
          </p:cNvSpPr>
          <p:nvPr>
            <p:ph idx="1"/>
          </p:nvPr>
        </p:nvSpPr>
        <p:spPr>
          <a:xfrm>
            <a:off x="184023" y="2321052"/>
            <a:ext cx="6092952" cy="4050792"/>
          </a:xfrm>
        </p:spPr>
        <p:txBody>
          <a:bodyPr/>
          <a:lstStyle/>
          <a:p>
            <a:r>
              <a:rPr lang="en-US" u="sng" dirty="0"/>
              <a:t>Permutation tests </a:t>
            </a:r>
          </a:p>
          <a:p>
            <a:r>
              <a:rPr lang="en-US" dirty="0"/>
              <a:t>Many assumptions cannot be checked empirically </a:t>
            </a:r>
          </a:p>
          <a:p>
            <a:pPr lvl="1"/>
            <a:r>
              <a:rPr lang="en-US" dirty="0"/>
              <a:t>It is therefore important to design a set of falsification/placebo tests to improve the inference of interest </a:t>
            </a:r>
          </a:p>
          <a:p>
            <a:r>
              <a:rPr lang="en-US" dirty="0"/>
              <a:t>Negative control approaches </a:t>
            </a:r>
          </a:p>
          <a:p>
            <a:pPr lvl="1"/>
            <a:r>
              <a:rPr lang="en-US" dirty="0" err="1"/>
              <a:t>Lipsitch</a:t>
            </a:r>
            <a:r>
              <a:rPr lang="en-US" dirty="0"/>
              <a:t> M et al. (2012): Negative controls: a tool for detecting confounding and bias in observational studies.</a:t>
            </a:r>
          </a:p>
          <a:p>
            <a:endParaRPr lang="en-US" dirty="0"/>
          </a:p>
        </p:txBody>
      </p:sp>
      <p:pic>
        <p:nvPicPr>
          <p:cNvPr id="5" name="Image 4">
            <a:extLst>
              <a:ext uri="{FF2B5EF4-FFF2-40B4-BE49-F238E27FC236}">
                <a16:creationId xmlns:a16="http://schemas.microsoft.com/office/drawing/2014/main" id="{2DAA9B8E-3BAC-417C-BE8D-3D9686FA795C}"/>
              </a:ext>
            </a:extLst>
          </p:cNvPr>
          <p:cNvPicPr>
            <a:picLocks noChangeAspect="1"/>
          </p:cNvPicPr>
          <p:nvPr/>
        </p:nvPicPr>
        <p:blipFill>
          <a:blip r:embed="rId2"/>
          <a:stretch>
            <a:fillRect/>
          </a:stretch>
        </p:blipFill>
        <p:spPr>
          <a:xfrm>
            <a:off x="6482979" y="1930078"/>
            <a:ext cx="5449618" cy="3222326"/>
          </a:xfrm>
          <a:prstGeom prst="rect">
            <a:avLst/>
          </a:prstGeom>
        </p:spPr>
      </p:pic>
      <p:sp>
        <p:nvSpPr>
          <p:cNvPr id="6" name="ZoneTexte 5">
            <a:extLst>
              <a:ext uri="{FF2B5EF4-FFF2-40B4-BE49-F238E27FC236}">
                <a16:creationId xmlns:a16="http://schemas.microsoft.com/office/drawing/2014/main" id="{1C00A51A-5EF5-45B9-BC68-F15EF9BA8B3D}"/>
              </a:ext>
            </a:extLst>
          </p:cNvPr>
          <p:cNvSpPr txBox="1"/>
          <p:nvPr/>
        </p:nvSpPr>
        <p:spPr>
          <a:xfrm>
            <a:off x="7360644" y="5243087"/>
            <a:ext cx="4202706" cy="830997"/>
          </a:xfrm>
          <a:prstGeom prst="rect">
            <a:avLst/>
          </a:prstGeom>
          <a:noFill/>
        </p:spPr>
        <p:txBody>
          <a:bodyPr wrap="square">
            <a:spAutoFit/>
          </a:bodyPr>
          <a:lstStyle/>
          <a:p>
            <a:r>
              <a:rPr lang="en-US" sz="1200" i="1" dirty="0">
                <a:effectLst/>
                <a:latin typeface="Times New Roman" panose="02020603050405020304" pitchFamily="18" charset="0"/>
                <a:ea typeface="Calibri" panose="020F0502020204030204" pitchFamily="34" charset="0"/>
              </a:rPr>
              <a:t>Sheridan et al. "Evaluating the impact of the California 1995 smoke-free workplace law on population smoking prevalence using a synthetic control method." Preventive medicine reports 19 (2020): 101164.</a:t>
            </a:r>
            <a:endParaRPr lang="en-US" sz="1200" i="1" dirty="0"/>
          </a:p>
        </p:txBody>
      </p:sp>
    </p:spTree>
    <p:extLst>
      <p:ext uri="{BB962C8B-B14F-4D97-AF65-F5344CB8AC3E}">
        <p14:creationId xmlns:p14="http://schemas.microsoft.com/office/powerpoint/2010/main" val="41856412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89388" y="1629342"/>
            <a:ext cx="10549333" cy="3599316"/>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endParaRPr lang="en-US" sz="3200" dirty="0"/>
          </a:p>
          <a:p>
            <a:r>
              <a:rPr lang="en-US" sz="3200" dirty="0"/>
              <a:t>The Montreal heat warning system</a:t>
            </a:r>
          </a:p>
          <a:p>
            <a:pPr lvl="1"/>
            <a:r>
              <a:rPr lang="en-US" sz="2800" dirty="0"/>
              <a:t>Implemented in 2004</a:t>
            </a:r>
          </a:p>
          <a:p>
            <a:pPr lvl="1"/>
            <a:r>
              <a:rPr lang="en-US" sz="2800" dirty="0"/>
              <a:t>‘active watch’ alert level, when daily max temperatures </a:t>
            </a:r>
            <a:r>
              <a:rPr lang="en-US" sz="2800" b="1" u="sng" dirty="0"/>
              <a:t>exceed 30°C</a:t>
            </a:r>
          </a:p>
          <a:p>
            <a:pPr lvl="1"/>
            <a:r>
              <a:rPr lang="en-US" sz="2800" dirty="0"/>
              <a:t>Focus on vulnerable populations</a:t>
            </a:r>
          </a:p>
          <a:p>
            <a:pPr lvl="2"/>
            <a:r>
              <a:rPr lang="en-US" sz="2600" dirty="0"/>
              <a:t>Age</a:t>
            </a:r>
          </a:p>
          <a:p>
            <a:pPr lvl="2"/>
            <a:r>
              <a:rPr lang="en-US" sz="2600" dirty="0"/>
              <a:t>SES</a:t>
            </a:r>
          </a:p>
          <a:p>
            <a:pPr lvl="2"/>
            <a:r>
              <a:rPr lang="en-US" sz="2600" dirty="0"/>
              <a:t>Gender as a placebo</a:t>
            </a:r>
          </a:p>
          <a:p>
            <a:pPr lvl="1"/>
            <a:endParaRPr lang="en-US" sz="2800" dirty="0"/>
          </a:p>
          <a:p>
            <a:endParaRPr lang="en-CA" sz="3200" dirty="0"/>
          </a:p>
        </p:txBody>
      </p:sp>
      <p:grpSp>
        <p:nvGrpSpPr>
          <p:cNvPr id="5" name="Group 4">
            <a:extLst>
              <a:ext uri="{FF2B5EF4-FFF2-40B4-BE49-F238E27FC236}">
                <a16:creationId xmlns:a16="http://schemas.microsoft.com/office/drawing/2014/main" id="{33E6B117-6BE0-4789-AB9F-13FF78554EFD}"/>
              </a:ext>
            </a:extLst>
          </p:cNvPr>
          <p:cNvGrpSpPr>
            <a:grpSpLocks noChangeAspect="1"/>
          </p:cNvGrpSpPr>
          <p:nvPr/>
        </p:nvGrpSpPr>
        <p:grpSpPr bwMode="auto">
          <a:xfrm>
            <a:off x="189389" y="79375"/>
            <a:ext cx="6649562" cy="1370022"/>
            <a:chOff x="479" y="1112"/>
            <a:chExt cx="6101" cy="1257"/>
          </a:xfrm>
        </p:grpSpPr>
        <p:sp>
          <p:nvSpPr>
            <p:cNvPr id="6" name="AutoShape 3">
              <a:extLst>
                <a:ext uri="{FF2B5EF4-FFF2-40B4-BE49-F238E27FC236}">
                  <a16:creationId xmlns:a16="http://schemas.microsoft.com/office/drawing/2014/main" id="{CD037CDE-712C-40E7-9AE7-4A4A650068AE}"/>
                </a:ext>
              </a:extLst>
            </p:cNvPr>
            <p:cNvSpPr>
              <a:spLocks noChangeAspect="1" noChangeArrowheads="1" noTextEdit="1"/>
            </p:cNvSpPr>
            <p:nvPr/>
          </p:nvSpPr>
          <p:spPr bwMode="auto">
            <a:xfrm>
              <a:off x="479" y="1112"/>
              <a:ext cx="6101" cy="1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7" name="Picture 5">
              <a:extLst>
                <a:ext uri="{FF2B5EF4-FFF2-40B4-BE49-F238E27FC236}">
                  <a16:creationId xmlns:a16="http://schemas.microsoft.com/office/drawing/2014/main" id="{CA76B31A-05EB-48B9-9830-9BD470908E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 y="1112"/>
              <a:ext cx="6104" cy="1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8" name="Picture 2" descr="http://ehp.niehs.nih.gov/wp-content/uploads/2016/11/ehp.124-A207.g001.jpg">
            <a:extLst>
              <a:ext uri="{FF2B5EF4-FFF2-40B4-BE49-F238E27FC236}">
                <a16:creationId xmlns:a16="http://schemas.microsoft.com/office/drawing/2014/main" id="{CEEFBA77-7E62-496A-831E-1EE3C4AD7EA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14793" y="3760788"/>
            <a:ext cx="2071153" cy="3097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99660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analytical Approach:  </a:t>
            </a:r>
            <a:endParaRPr lang="en-CA" dirty="0"/>
          </a:p>
        </p:txBody>
      </p:sp>
      <p:sp>
        <p:nvSpPr>
          <p:cNvPr id="3" name="Content Placeholder 2"/>
          <p:cNvSpPr>
            <a:spLocks noGrp="1"/>
          </p:cNvSpPr>
          <p:nvPr>
            <p:ph idx="1"/>
          </p:nvPr>
        </p:nvSpPr>
        <p:spPr/>
        <p:txBody>
          <a:bodyPr>
            <a:normAutofit/>
          </a:bodyPr>
          <a:lstStyle/>
          <a:p>
            <a:r>
              <a:rPr lang="en-US" sz="2400" dirty="0"/>
              <a:t>Assigning days (the unit of analysis) to two groups: an “intervention” group that meets an eligibility criterion and a “non-intervention” group that does not.</a:t>
            </a:r>
          </a:p>
          <a:p>
            <a:r>
              <a:rPr lang="en-US" sz="2400" dirty="0"/>
              <a:t>the “intervention” group: if ‘active watch’ alert level is present (heat wave days) </a:t>
            </a:r>
          </a:p>
          <a:p>
            <a:r>
              <a:rPr lang="en-US" sz="2400" dirty="0"/>
              <a:t>The non-intervention group: non heat wave days</a:t>
            </a:r>
          </a:p>
          <a:p>
            <a:r>
              <a:rPr lang="en-US" sz="2400" dirty="0"/>
              <a:t>The </a:t>
            </a:r>
            <a:r>
              <a:rPr lang="en-US" sz="2400" b="1" u="sng" dirty="0"/>
              <a:t>counterfactual quantity </a:t>
            </a:r>
            <a:r>
              <a:rPr lang="en-US" sz="2400" dirty="0"/>
              <a:t>being estimated is: </a:t>
            </a:r>
          </a:p>
          <a:p>
            <a:pPr lvl="1"/>
            <a:r>
              <a:rPr lang="en-US" sz="2200" dirty="0"/>
              <a:t>The difference in the daily number of deaths between intervention (heat wave) and non-intervention (non-heat wave) days in the post-2004 period, had the HAP not been implemented</a:t>
            </a:r>
          </a:p>
          <a:p>
            <a:endParaRPr lang="en-CA" sz="2400" dirty="0"/>
          </a:p>
        </p:txBody>
      </p:sp>
    </p:spTree>
    <p:extLst>
      <p:ext uri="{BB962C8B-B14F-4D97-AF65-F5344CB8AC3E}">
        <p14:creationId xmlns:p14="http://schemas.microsoft.com/office/powerpoint/2010/main" val="1038569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Sensitivity analyses </a:t>
            </a:r>
          </a:p>
        </p:txBody>
      </p:sp>
      <p:grpSp>
        <p:nvGrpSpPr>
          <p:cNvPr id="3" name="Group 4">
            <a:extLst>
              <a:ext uri="{FF2B5EF4-FFF2-40B4-BE49-F238E27FC236}">
                <a16:creationId xmlns:a16="http://schemas.microsoft.com/office/drawing/2014/main" id="{0AE0400F-2430-416D-A3BC-362DD4D6B5F2}"/>
              </a:ext>
            </a:extLst>
          </p:cNvPr>
          <p:cNvGrpSpPr>
            <a:grpSpLocks noChangeAspect="1"/>
          </p:cNvGrpSpPr>
          <p:nvPr/>
        </p:nvGrpSpPr>
        <p:grpSpPr bwMode="auto">
          <a:xfrm>
            <a:off x="296863" y="1762125"/>
            <a:ext cx="9818687" cy="4446588"/>
            <a:chOff x="187" y="1110"/>
            <a:chExt cx="6185" cy="2801"/>
          </a:xfrm>
        </p:grpSpPr>
        <p:sp>
          <p:nvSpPr>
            <p:cNvPr id="4" name="AutoShape 3">
              <a:extLst>
                <a:ext uri="{FF2B5EF4-FFF2-40B4-BE49-F238E27FC236}">
                  <a16:creationId xmlns:a16="http://schemas.microsoft.com/office/drawing/2014/main" id="{28C5ABDC-AD31-4DFE-B006-7C904533446C}"/>
                </a:ext>
              </a:extLst>
            </p:cNvPr>
            <p:cNvSpPr>
              <a:spLocks noChangeAspect="1" noChangeArrowheads="1" noTextEdit="1"/>
            </p:cNvSpPr>
            <p:nvPr/>
          </p:nvSpPr>
          <p:spPr bwMode="auto">
            <a:xfrm>
              <a:off x="187" y="1110"/>
              <a:ext cx="6185" cy="2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7173" name="Picture 5">
              <a:extLst>
                <a:ext uri="{FF2B5EF4-FFF2-40B4-BE49-F238E27FC236}">
                  <a16:creationId xmlns:a16="http://schemas.microsoft.com/office/drawing/2014/main" id="{6CD4403B-0531-4B1E-ACFF-33A3CD7D07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 y="1110"/>
              <a:ext cx="6190" cy="2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375891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4D1E5D-4D72-4F5D-968F-FE30179C5A39}"/>
              </a:ext>
            </a:extLst>
          </p:cNvPr>
          <p:cNvSpPr>
            <a:spLocks noGrp="1"/>
          </p:cNvSpPr>
          <p:nvPr>
            <p:ph type="title"/>
          </p:nvPr>
        </p:nvSpPr>
        <p:spPr>
          <a:xfrm>
            <a:off x="555498" y="246507"/>
            <a:ext cx="10058400" cy="1609344"/>
          </a:xfrm>
        </p:spPr>
        <p:txBody>
          <a:bodyPr/>
          <a:lstStyle/>
          <a:p>
            <a:r>
              <a:rPr lang="en-US" dirty="0"/>
              <a:t>Topics not discussed today</a:t>
            </a:r>
          </a:p>
        </p:txBody>
      </p:sp>
      <p:sp>
        <p:nvSpPr>
          <p:cNvPr id="3" name="Espace réservé du contenu 2">
            <a:extLst>
              <a:ext uri="{FF2B5EF4-FFF2-40B4-BE49-F238E27FC236}">
                <a16:creationId xmlns:a16="http://schemas.microsoft.com/office/drawing/2014/main" id="{9085363C-F553-4525-91BE-0650EA5CBF6C}"/>
              </a:ext>
            </a:extLst>
          </p:cNvPr>
          <p:cNvSpPr>
            <a:spLocks noGrp="1"/>
          </p:cNvSpPr>
          <p:nvPr>
            <p:ph idx="1"/>
          </p:nvPr>
        </p:nvSpPr>
        <p:spPr>
          <a:xfrm>
            <a:off x="555498" y="1768982"/>
            <a:ext cx="10550652" cy="4490085"/>
          </a:xfrm>
        </p:spPr>
        <p:txBody>
          <a:bodyPr>
            <a:normAutofit lnSpcReduction="10000"/>
          </a:bodyPr>
          <a:lstStyle/>
          <a:p>
            <a:r>
              <a:rPr lang="en-US" dirty="0"/>
              <a:t>Multiple treated units at different times </a:t>
            </a:r>
          </a:p>
          <a:p>
            <a:pPr lvl="1"/>
            <a:r>
              <a:rPr lang="en-US" dirty="0"/>
              <a:t>A very active area of research </a:t>
            </a:r>
          </a:p>
          <a:p>
            <a:pPr lvl="1"/>
            <a:r>
              <a:rPr lang="en-US" dirty="0"/>
              <a:t>Goodman-Bacon (2018) proposed a solution based on a weighted average of all possible DID estimators (using some groups multiple times) in the sample of interest. This approach requires an additional identifying assumption of time-invariant treatment effects.</a:t>
            </a:r>
          </a:p>
          <a:p>
            <a:pPr lvl="1"/>
            <a:r>
              <a:rPr lang="en-US" dirty="0"/>
              <a:t>Callaway and </a:t>
            </a:r>
            <a:r>
              <a:rPr lang="en-US" dirty="0" err="1"/>
              <a:t>Sant’Anna</a:t>
            </a:r>
            <a:r>
              <a:rPr lang="en-US" dirty="0"/>
              <a:t> (2020) proposed an analytical solution for such case where there are more than two time periods and units that can become treated at different points in time while relaxing the time-invariant treatment effects assumption</a:t>
            </a:r>
          </a:p>
          <a:p>
            <a:r>
              <a:rPr lang="en-US" dirty="0"/>
              <a:t>Multi-stage interventions </a:t>
            </a:r>
          </a:p>
          <a:p>
            <a:r>
              <a:rPr lang="en-US" dirty="0"/>
              <a:t>The Scale of interest </a:t>
            </a:r>
          </a:p>
          <a:p>
            <a:pPr lvl="1"/>
            <a:r>
              <a:rPr lang="en-US" dirty="0"/>
              <a:t>Important to think about the scale of the interaction term </a:t>
            </a:r>
          </a:p>
          <a:p>
            <a:pPr lvl="2"/>
            <a:r>
              <a:rPr lang="en-US" dirty="0"/>
              <a:t>When Is Parallel Trends Sensitive to Functional Form? (Roth and </a:t>
            </a:r>
            <a:r>
              <a:rPr lang="en-US" dirty="0" err="1"/>
              <a:t>Sant’Anna</a:t>
            </a:r>
            <a:r>
              <a:rPr lang="en-US" dirty="0"/>
              <a:t>, 2021) </a:t>
            </a:r>
          </a:p>
          <a:p>
            <a:r>
              <a:rPr lang="en-US" dirty="0"/>
              <a:t>Lagged/delayed effects </a:t>
            </a:r>
          </a:p>
          <a:p>
            <a:pPr lvl="1"/>
            <a:r>
              <a:rPr lang="en-US" dirty="0"/>
              <a:t>Many available tools </a:t>
            </a:r>
          </a:p>
        </p:txBody>
      </p:sp>
    </p:spTree>
    <p:extLst>
      <p:ext uri="{BB962C8B-B14F-4D97-AF65-F5344CB8AC3E}">
        <p14:creationId xmlns:p14="http://schemas.microsoft.com/office/powerpoint/2010/main" val="31488764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B4FB9E-0A6B-44C5-A276-E5C78F90DF25}"/>
              </a:ext>
            </a:extLst>
          </p:cNvPr>
          <p:cNvSpPr>
            <a:spLocks noGrp="1"/>
          </p:cNvSpPr>
          <p:nvPr>
            <p:ph type="title"/>
          </p:nvPr>
        </p:nvSpPr>
        <p:spPr>
          <a:xfrm>
            <a:off x="431673" y="227457"/>
            <a:ext cx="10058400" cy="1609344"/>
          </a:xfrm>
        </p:spPr>
        <p:txBody>
          <a:bodyPr>
            <a:normAutofit/>
          </a:bodyPr>
          <a:lstStyle/>
          <a:p>
            <a:r>
              <a:rPr lang="en-US" sz="4400" dirty="0"/>
              <a:t>Designing a study capitalizing on the timing of an intervention </a:t>
            </a:r>
          </a:p>
        </p:txBody>
      </p:sp>
      <p:sp>
        <p:nvSpPr>
          <p:cNvPr id="3" name="Espace réservé du contenu 2">
            <a:extLst>
              <a:ext uri="{FF2B5EF4-FFF2-40B4-BE49-F238E27FC236}">
                <a16:creationId xmlns:a16="http://schemas.microsoft.com/office/drawing/2014/main" id="{91686DCB-A06B-4F78-9E29-D77CA9EC6B8F}"/>
              </a:ext>
            </a:extLst>
          </p:cNvPr>
          <p:cNvSpPr>
            <a:spLocks noGrp="1"/>
          </p:cNvSpPr>
          <p:nvPr>
            <p:ph idx="1"/>
          </p:nvPr>
        </p:nvSpPr>
        <p:spPr>
          <a:xfrm>
            <a:off x="507873" y="2093976"/>
            <a:ext cx="10058400" cy="4050792"/>
          </a:xfrm>
        </p:spPr>
        <p:txBody>
          <a:bodyPr/>
          <a:lstStyle/>
          <a:p>
            <a:pPr marL="0" indent="0">
              <a:buNone/>
            </a:pPr>
            <a:r>
              <a:rPr lang="en-US" sz="1800" dirty="0"/>
              <a:t>When designing a study in which the timing of an intervention is capitalized on, we recommend to undertake the three following steps</a:t>
            </a:r>
          </a:p>
          <a:p>
            <a:pPr marL="342900" indent="-342900">
              <a:buFont typeface="+mj-lt"/>
              <a:buAutoNum type="arabicPeriod"/>
            </a:pPr>
            <a:r>
              <a:rPr lang="en-US" sz="1800" dirty="0"/>
              <a:t>Define a clear research question, ideally with a well-defined intervention with specific implementation time and targeted population; </a:t>
            </a:r>
          </a:p>
          <a:p>
            <a:pPr lvl="1">
              <a:buFont typeface="Wingdings" panose="05000000000000000000" pitchFamily="2" charset="2"/>
              <a:buChar char="ü"/>
            </a:pPr>
            <a:r>
              <a:rPr lang="en-US" sz="1600" dirty="0"/>
              <a:t>The target trial framework which considers the design of an ideal randomized experiment, can be helpful in framing the study and the target causal estimand of interest.</a:t>
            </a:r>
          </a:p>
          <a:p>
            <a:pPr marL="342900" indent="-342900">
              <a:buFont typeface="+mj-lt"/>
              <a:buAutoNum type="arabicPeriod"/>
            </a:pPr>
            <a:r>
              <a:rPr lang="en-US" sz="1800" dirty="0"/>
              <a:t>Propose an identification strategy about how we can exploit the setting of the intervention implementation of interest to estimate the targeted causal quantity of interest (estimand) and identify possible falsifications tests</a:t>
            </a:r>
          </a:p>
          <a:p>
            <a:pPr marL="342900" indent="-342900">
              <a:buFont typeface="+mj-lt"/>
              <a:buAutoNum type="arabicPeriod"/>
            </a:pPr>
            <a:r>
              <a:rPr lang="en-US" sz="1800" dirty="0"/>
              <a:t>Propose an estimation strategy which often relates to the statistical or modelling approach (i.e. estimator) that we will use to obtain a given estimate (e.g. regression coefficient) to quantitatively represent the targeted estimand of interest (i.e. ATT).  </a:t>
            </a:r>
          </a:p>
          <a:p>
            <a:pPr marL="342900" indent="-342900">
              <a:buFont typeface="+mj-lt"/>
              <a:buAutoNum type="arabicPeriod"/>
            </a:pPr>
            <a:endParaRPr lang="en-US" sz="1800" dirty="0">
              <a:effectLst/>
              <a:latin typeface="Garamond" panose="02020404030301010803" pitchFamily="18" charset="0"/>
              <a:ea typeface="Times New Roman" panose="02020603050405020304" pitchFamily="18" charset="0"/>
              <a:cs typeface="Calibri" panose="020F0502020204030204" pitchFamily="34" charset="0"/>
            </a:endParaRPr>
          </a:p>
          <a:p>
            <a:pPr marL="0" indent="0">
              <a:buNone/>
            </a:pPr>
            <a:endParaRPr lang="en-US" dirty="0"/>
          </a:p>
        </p:txBody>
      </p:sp>
    </p:spTree>
    <p:extLst>
      <p:ext uri="{BB962C8B-B14F-4D97-AF65-F5344CB8AC3E}">
        <p14:creationId xmlns:p14="http://schemas.microsoft.com/office/powerpoint/2010/main" val="31102285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C576DE-014A-4A71-A1BF-480E08C63FE8}"/>
              </a:ext>
            </a:extLst>
          </p:cNvPr>
          <p:cNvSpPr>
            <a:spLocks noGrp="1"/>
          </p:cNvSpPr>
          <p:nvPr>
            <p:ph type="title"/>
          </p:nvPr>
        </p:nvSpPr>
        <p:spPr>
          <a:xfrm>
            <a:off x="469773" y="138938"/>
            <a:ext cx="10058400" cy="1609344"/>
          </a:xfrm>
        </p:spPr>
        <p:txBody>
          <a:bodyPr/>
          <a:lstStyle/>
          <a:p>
            <a:r>
              <a:rPr lang="en-US" dirty="0"/>
              <a:t>Step by step hypothetical example </a:t>
            </a:r>
          </a:p>
        </p:txBody>
      </p:sp>
      <p:grpSp>
        <p:nvGrpSpPr>
          <p:cNvPr id="6" name="Group 4">
            <a:extLst>
              <a:ext uri="{FF2B5EF4-FFF2-40B4-BE49-F238E27FC236}">
                <a16:creationId xmlns:a16="http://schemas.microsoft.com/office/drawing/2014/main" id="{2CA780C2-0B42-4ED2-99EF-973FF57D1293}"/>
              </a:ext>
            </a:extLst>
          </p:cNvPr>
          <p:cNvGrpSpPr>
            <a:grpSpLocks noChangeAspect="1"/>
          </p:cNvGrpSpPr>
          <p:nvPr/>
        </p:nvGrpSpPr>
        <p:grpSpPr bwMode="auto">
          <a:xfrm>
            <a:off x="244475" y="1697038"/>
            <a:ext cx="5972175" cy="2257425"/>
            <a:chOff x="2944" y="1711"/>
            <a:chExt cx="3762" cy="1422"/>
          </a:xfrm>
        </p:grpSpPr>
        <p:sp>
          <p:nvSpPr>
            <p:cNvPr id="7" name="AutoShape 3">
              <a:extLst>
                <a:ext uri="{FF2B5EF4-FFF2-40B4-BE49-F238E27FC236}">
                  <a16:creationId xmlns:a16="http://schemas.microsoft.com/office/drawing/2014/main" id="{AC442B2D-0B24-4CD8-86DF-E5CE05DD76DB}"/>
                </a:ext>
              </a:extLst>
            </p:cNvPr>
            <p:cNvSpPr>
              <a:spLocks noChangeAspect="1" noChangeArrowheads="1" noTextEdit="1"/>
            </p:cNvSpPr>
            <p:nvPr/>
          </p:nvSpPr>
          <p:spPr bwMode="auto">
            <a:xfrm>
              <a:off x="2944" y="1711"/>
              <a:ext cx="3762" cy="1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29" name="Picture 5">
              <a:extLst>
                <a:ext uri="{FF2B5EF4-FFF2-40B4-BE49-F238E27FC236}">
                  <a16:creationId xmlns:a16="http://schemas.microsoft.com/office/drawing/2014/main" id="{E4DCFC36-2990-4227-ACDA-315970B7E4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4" y="1711"/>
              <a:ext cx="3765" cy="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 name="Group 4">
            <a:extLst>
              <a:ext uri="{FF2B5EF4-FFF2-40B4-BE49-F238E27FC236}">
                <a16:creationId xmlns:a16="http://schemas.microsoft.com/office/drawing/2014/main" id="{43012785-7AA1-4CDF-884E-E4595B09216E}"/>
              </a:ext>
            </a:extLst>
          </p:cNvPr>
          <p:cNvGrpSpPr>
            <a:grpSpLocks noChangeAspect="1"/>
          </p:cNvGrpSpPr>
          <p:nvPr/>
        </p:nvGrpSpPr>
        <p:grpSpPr bwMode="auto">
          <a:xfrm>
            <a:off x="1265238" y="4240213"/>
            <a:ext cx="5584825" cy="2133600"/>
            <a:chOff x="797" y="2671"/>
            <a:chExt cx="3518" cy="1344"/>
          </a:xfrm>
        </p:grpSpPr>
        <p:sp>
          <p:nvSpPr>
            <p:cNvPr id="4" name="AutoShape 3">
              <a:extLst>
                <a:ext uri="{FF2B5EF4-FFF2-40B4-BE49-F238E27FC236}">
                  <a16:creationId xmlns:a16="http://schemas.microsoft.com/office/drawing/2014/main" id="{65CF3F6F-0A9D-4886-8A9E-42820BB57C9C}"/>
                </a:ext>
              </a:extLst>
            </p:cNvPr>
            <p:cNvSpPr>
              <a:spLocks noChangeAspect="1" noChangeArrowheads="1" noTextEdit="1"/>
            </p:cNvSpPr>
            <p:nvPr/>
          </p:nvSpPr>
          <p:spPr bwMode="auto">
            <a:xfrm>
              <a:off x="797" y="2671"/>
              <a:ext cx="3518" cy="1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5" name="Picture 5">
              <a:extLst>
                <a:ext uri="{FF2B5EF4-FFF2-40B4-BE49-F238E27FC236}">
                  <a16:creationId xmlns:a16="http://schemas.microsoft.com/office/drawing/2014/main" id="{B2887230-2942-459B-9D53-27F7009BB9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 y="2671"/>
              <a:ext cx="3524" cy="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8962904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B3F8D2-BA2F-45D0-A910-849160C469AE}"/>
              </a:ext>
            </a:extLst>
          </p:cNvPr>
          <p:cNvSpPr>
            <a:spLocks noGrp="1"/>
          </p:cNvSpPr>
          <p:nvPr>
            <p:ph type="title"/>
          </p:nvPr>
        </p:nvSpPr>
        <p:spPr/>
        <p:txBody>
          <a:bodyPr/>
          <a:lstStyle/>
          <a:p>
            <a:r>
              <a:rPr lang="en-US" dirty="0"/>
              <a:t>Simple before and after design</a:t>
            </a:r>
          </a:p>
        </p:txBody>
      </p:sp>
      <p:pic>
        <p:nvPicPr>
          <p:cNvPr id="9" name="Espace réservé du contenu 8">
            <a:extLst>
              <a:ext uri="{FF2B5EF4-FFF2-40B4-BE49-F238E27FC236}">
                <a16:creationId xmlns:a16="http://schemas.microsoft.com/office/drawing/2014/main" id="{D9A51F57-E8B5-4687-9100-B60C4C51C2E6}"/>
              </a:ext>
            </a:extLst>
          </p:cNvPr>
          <p:cNvPicPr>
            <a:picLocks noGrp="1" noChangeAspect="1"/>
          </p:cNvPicPr>
          <p:nvPr>
            <p:ph idx="1"/>
          </p:nvPr>
        </p:nvPicPr>
        <p:blipFill rotWithShape="1">
          <a:blip r:embed="rId2"/>
          <a:srcRect l="9913" t="12134" r="22640" b="16863"/>
          <a:stretch/>
        </p:blipFill>
        <p:spPr>
          <a:xfrm>
            <a:off x="590549" y="1990724"/>
            <a:ext cx="7620001" cy="4512235"/>
          </a:xfrm>
        </p:spPr>
      </p:pic>
    </p:spTree>
    <p:extLst>
      <p:ext uri="{BB962C8B-B14F-4D97-AF65-F5344CB8AC3E}">
        <p14:creationId xmlns:p14="http://schemas.microsoft.com/office/powerpoint/2010/main" val="31522669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782DB9F-BBBC-45E4-AD80-5B0E3A64293D}"/>
              </a:ext>
            </a:extLst>
          </p:cNvPr>
          <p:cNvSpPr>
            <a:spLocks noGrp="1"/>
          </p:cNvSpPr>
          <p:nvPr>
            <p:ph type="title"/>
          </p:nvPr>
        </p:nvSpPr>
        <p:spPr/>
        <p:txBody>
          <a:bodyPr/>
          <a:lstStyle/>
          <a:p>
            <a:r>
              <a:rPr lang="en-US" dirty="0"/>
              <a:t>What could go wrong</a:t>
            </a:r>
          </a:p>
        </p:txBody>
      </p:sp>
      <p:pic>
        <p:nvPicPr>
          <p:cNvPr id="5" name="Espace réservé du contenu 4">
            <a:extLst>
              <a:ext uri="{FF2B5EF4-FFF2-40B4-BE49-F238E27FC236}">
                <a16:creationId xmlns:a16="http://schemas.microsoft.com/office/drawing/2014/main" id="{505A4160-F725-476D-8424-35A1A7C16066}"/>
              </a:ext>
            </a:extLst>
          </p:cNvPr>
          <p:cNvPicPr>
            <a:picLocks noGrp="1" noChangeAspect="1"/>
          </p:cNvPicPr>
          <p:nvPr>
            <p:ph idx="1"/>
          </p:nvPr>
        </p:nvPicPr>
        <p:blipFill rotWithShape="1">
          <a:blip r:embed="rId2"/>
          <a:srcRect l="9077" t="7436" r="20150" b="18609"/>
          <a:stretch/>
        </p:blipFill>
        <p:spPr>
          <a:xfrm>
            <a:off x="0" y="2266544"/>
            <a:ext cx="5593787" cy="3287950"/>
          </a:xfrm>
        </p:spPr>
      </p:pic>
      <p:pic>
        <p:nvPicPr>
          <p:cNvPr id="7" name="Image 6">
            <a:extLst>
              <a:ext uri="{FF2B5EF4-FFF2-40B4-BE49-F238E27FC236}">
                <a16:creationId xmlns:a16="http://schemas.microsoft.com/office/drawing/2014/main" id="{9DB0C152-D840-4BD5-B971-FF0130EA6A80}"/>
              </a:ext>
            </a:extLst>
          </p:cNvPr>
          <p:cNvPicPr>
            <a:picLocks noChangeAspect="1"/>
          </p:cNvPicPr>
          <p:nvPr/>
        </p:nvPicPr>
        <p:blipFill rotWithShape="1">
          <a:blip r:embed="rId3"/>
          <a:srcRect l="10657" t="12956" r="17766" b="19294"/>
          <a:stretch/>
        </p:blipFill>
        <p:spPr>
          <a:xfrm>
            <a:off x="5629073" y="2626466"/>
            <a:ext cx="5593786" cy="2978226"/>
          </a:xfrm>
          <a:prstGeom prst="rect">
            <a:avLst/>
          </a:prstGeom>
        </p:spPr>
      </p:pic>
    </p:spTree>
    <p:extLst>
      <p:ext uri="{BB962C8B-B14F-4D97-AF65-F5344CB8AC3E}">
        <p14:creationId xmlns:p14="http://schemas.microsoft.com/office/powerpoint/2010/main" val="14417369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B91BCD-B763-4ABF-B294-54D5F125DDBC}"/>
              </a:ext>
            </a:extLst>
          </p:cNvPr>
          <p:cNvSpPr>
            <a:spLocks noGrp="1"/>
          </p:cNvSpPr>
          <p:nvPr>
            <p:ph type="title"/>
          </p:nvPr>
        </p:nvSpPr>
        <p:spPr/>
        <p:txBody>
          <a:bodyPr/>
          <a:lstStyle/>
          <a:p>
            <a:r>
              <a:rPr lang="en-US" dirty="0"/>
              <a:t>Using an ITS approach</a:t>
            </a:r>
          </a:p>
        </p:txBody>
      </p:sp>
      <p:pic>
        <p:nvPicPr>
          <p:cNvPr id="5" name="Espace réservé du contenu 4">
            <a:extLst>
              <a:ext uri="{FF2B5EF4-FFF2-40B4-BE49-F238E27FC236}">
                <a16:creationId xmlns:a16="http://schemas.microsoft.com/office/drawing/2014/main" id="{76B01BC6-3F32-424C-9161-65EB54631228}"/>
              </a:ext>
            </a:extLst>
          </p:cNvPr>
          <p:cNvPicPr>
            <a:picLocks noGrp="1" noChangeAspect="1"/>
          </p:cNvPicPr>
          <p:nvPr>
            <p:ph idx="1"/>
          </p:nvPr>
        </p:nvPicPr>
        <p:blipFill rotWithShape="1">
          <a:blip r:embed="rId2"/>
          <a:srcRect l="10923" t="15056" r="22086" b="18434"/>
          <a:stretch/>
        </p:blipFill>
        <p:spPr>
          <a:xfrm>
            <a:off x="486787" y="1957691"/>
            <a:ext cx="7771387" cy="4340067"/>
          </a:xfrm>
        </p:spPr>
      </p:pic>
    </p:spTree>
    <p:extLst>
      <p:ext uri="{BB962C8B-B14F-4D97-AF65-F5344CB8AC3E}">
        <p14:creationId xmlns:p14="http://schemas.microsoft.com/office/powerpoint/2010/main" val="13956344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307606-D63F-4F6C-B25E-BE335462BE2D}"/>
              </a:ext>
            </a:extLst>
          </p:cNvPr>
          <p:cNvSpPr>
            <a:spLocks noGrp="1"/>
          </p:cNvSpPr>
          <p:nvPr>
            <p:ph type="title"/>
          </p:nvPr>
        </p:nvSpPr>
        <p:spPr/>
        <p:txBody>
          <a:bodyPr/>
          <a:lstStyle/>
          <a:p>
            <a:r>
              <a:rPr lang="en-US" dirty="0"/>
              <a:t>What could go wrong</a:t>
            </a:r>
          </a:p>
        </p:txBody>
      </p:sp>
      <p:pic>
        <p:nvPicPr>
          <p:cNvPr id="9" name="Espace réservé du contenu 8">
            <a:extLst>
              <a:ext uri="{FF2B5EF4-FFF2-40B4-BE49-F238E27FC236}">
                <a16:creationId xmlns:a16="http://schemas.microsoft.com/office/drawing/2014/main" id="{B400040F-93A3-4377-9B54-317CABBDF372}"/>
              </a:ext>
            </a:extLst>
          </p:cNvPr>
          <p:cNvPicPr>
            <a:picLocks noGrp="1" noChangeAspect="1"/>
          </p:cNvPicPr>
          <p:nvPr>
            <p:ph idx="1"/>
          </p:nvPr>
        </p:nvPicPr>
        <p:blipFill rotWithShape="1">
          <a:blip r:embed="rId2"/>
          <a:srcRect l="11346" t="16081" r="20312" b="19329"/>
          <a:stretch/>
        </p:blipFill>
        <p:spPr>
          <a:xfrm>
            <a:off x="243191" y="2120628"/>
            <a:ext cx="7209460" cy="3832699"/>
          </a:xfrm>
        </p:spPr>
      </p:pic>
      <p:grpSp>
        <p:nvGrpSpPr>
          <p:cNvPr id="15" name="Groupe 14">
            <a:extLst>
              <a:ext uri="{FF2B5EF4-FFF2-40B4-BE49-F238E27FC236}">
                <a16:creationId xmlns:a16="http://schemas.microsoft.com/office/drawing/2014/main" id="{82B349C6-853B-43FA-B364-AC53EC0E99CD}"/>
              </a:ext>
            </a:extLst>
          </p:cNvPr>
          <p:cNvGrpSpPr/>
          <p:nvPr/>
        </p:nvGrpSpPr>
        <p:grpSpPr>
          <a:xfrm>
            <a:off x="1731117" y="5694289"/>
            <a:ext cx="302040" cy="803520"/>
            <a:chOff x="1731117" y="5694289"/>
            <a:chExt cx="302040" cy="803520"/>
          </a:xfrm>
        </p:grpSpPr>
        <mc:AlternateContent xmlns:mc="http://schemas.openxmlformats.org/markup-compatibility/2006" xmlns:p14="http://schemas.microsoft.com/office/powerpoint/2010/main">
          <mc:Choice Requires="p14">
            <p:contentPart p14:bwMode="auto" r:id="rId3">
              <p14:nvContentPartPr>
                <p14:cNvPr id="13" name="Encre 12">
                  <a:extLst>
                    <a:ext uri="{FF2B5EF4-FFF2-40B4-BE49-F238E27FC236}">
                      <a16:creationId xmlns:a16="http://schemas.microsoft.com/office/drawing/2014/main" id="{6EAE8EB1-FB4E-47A3-AFCB-DB46CF1C334F}"/>
                    </a:ext>
                  </a:extLst>
                </p14:cNvPr>
                <p14:cNvContentPartPr/>
                <p14:nvPr/>
              </p14:nvContentPartPr>
              <p14:xfrm>
                <a:off x="1867557" y="5769169"/>
                <a:ext cx="360" cy="728640"/>
              </p14:xfrm>
            </p:contentPart>
          </mc:Choice>
          <mc:Fallback xmlns="">
            <p:pic>
              <p:nvPicPr>
                <p:cNvPr id="13" name="Encre 12">
                  <a:extLst>
                    <a:ext uri="{FF2B5EF4-FFF2-40B4-BE49-F238E27FC236}">
                      <a16:creationId xmlns:a16="http://schemas.microsoft.com/office/drawing/2014/main" id="{6EAE8EB1-FB4E-47A3-AFCB-DB46CF1C334F}"/>
                    </a:ext>
                  </a:extLst>
                </p:cNvPr>
                <p:cNvPicPr/>
                <p:nvPr/>
              </p:nvPicPr>
              <p:blipFill>
                <a:blip r:embed="rId4"/>
                <a:stretch>
                  <a:fillRect/>
                </a:stretch>
              </p:blipFill>
              <p:spPr>
                <a:xfrm>
                  <a:off x="1831557" y="5733529"/>
                  <a:ext cx="72000" cy="8002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4" name="Encre 13">
                  <a:extLst>
                    <a:ext uri="{FF2B5EF4-FFF2-40B4-BE49-F238E27FC236}">
                      <a16:creationId xmlns:a16="http://schemas.microsoft.com/office/drawing/2014/main" id="{F483882B-F9CF-49CD-BAD2-6831B314FF34}"/>
                    </a:ext>
                  </a:extLst>
                </p14:cNvPr>
                <p14:cNvContentPartPr/>
                <p14:nvPr/>
              </p14:nvContentPartPr>
              <p14:xfrm>
                <a:off x="1731117" y="5694289"/>
                <a:ext cx="302040" cy="169920"/>
              </p14:xfrm>
            </p:contentPart>
          </mc:Choice>
          <mc:Fallback xmlns="">
            <p:pic>
              <p:nvPicPr>
                <p:cNvPr id="14" name="Encre 13">
                  <a:extLst>
                    <a:ext uri="{FF2B5EF4-FFF2-40B4-BE49-F238E27FC236}">
                      <a16:creationId xmlns:a16="http://schemas.microsoft.com/office/drawing/2014/main" id="{F483882B-F9CF-49CD-BAD2-6831B314FF34}"/>
                    </a:ext>
                  </a:extLst>
                </p:cNvPr>
                <p:cNvPicPr/>
                <p:nvPr/>
              </p:nvPicPr>
              <p:blipFill>
                <a:blip r:embed="rId6"/>
                <a:stretch>
                  <a:fillRect/>
                </a:stretch>
              </p:blipFill>
              <p:spPr>
                <a:xfrm>
                  <a:off x="1695477" y="5658649"/>
                  <a:ext cx="373680" cy="241560"/>
                </a:xfrm>
                <a:prstGeom prst="rect">
                  <a:avLst/>
                </a:prstGeom>
              </p:spPr>
            </p:pic>
          </mc:Fallback>
        </mc:AlternateContent>
      </p:grpSp>
    </p:spTree>
    <p:extLst>
      <p:ext uri="{BB962C8B-B14F-4D97-AF65-F5344CB8AC3E}">
        <p14:creationId xmlns:p14="http://schemas.microsoft.com/office/powerpoint/2010/main" val="12128778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BA2BE4-77F7-4C1C-AD57-65B2C5D5DDFF}"/>
              </a:ext>
            </a:extLst>
          </p:cNvPr>
          <p:cNvSpPr>
            <a:spLocks noGrp="1"/>
          </p:cNvSpPr>
          <p:nvPr>
            <p:ph type="title"/>
          </p:nvPr>
        </p:nvSpPr>
        <p:spPr/>
        <p:txBody>
          <a:bodyPr/>
          <a:lstStyle/>
          <a:p>
            <a:r>
              <a:rPr lang="en-US" dirty="0"/>
              <a:t>Solution: DID or CITS</a:t>
            </a:r>
            <a:br>
              <a:rPr lang="en-US" dirty="0"/>
            </a:br>
            <a:r>
              <a:rPr lang="en-US" sz="4000" dirty="0"/>
              <a:t>If you have an eligible control group (with PT)</a:t>
            </a:r>
            <a:endParaRPr lang="en-US" dirty="0"/>
          </a:p>
        </p:txBody>
      </p:sp>
      <p:pic>
        <p:nvPicPr>
          <p:cNvPr id="6" name="Espace réservé du contenu 5">
            <a:extLst>
              <a:ext uri="{FF2B5EF4-FFF2-40B4-BE49-F238E27FC236}">
                <a16:creationId xmlns:a16="http://schemas.microsoft.com/office/drawing/2014/main" id="{1049D310-DAD1-40E2-B3E1-B3C51CCD62F2}"/>
              </a:ext>
            </a:extLst>
          </p:cNvPr>
          <p:cNvPicPr>
            <a:picLocks noGrp="1" noChangeAspect="1"/>
          </p:cNvPicPr>
          <p:nvPr>
            <p:ph idx="1"/>
          </p:nvPr>
        </p:nvPicPr>
        <p:blipFill rotWithShape="1">
          <a:blip r:embed="rId2"/>
          <a:srcRect l="11562" t="14957" r="19827" b="21654"/>
          <a:stretch/>
        </p:blipFill>
        <p:spPr>
          <a:xfrm>
            <a:off x="175098" y="2383276"/>
            <a:ext cx="7056828" cy="3667327"/>
          </a:xfrm>
        </p:spPr>
      </p:pic>
    </p:spTree>
    <p:extLst>
      <p:ext uri="{BB962C8B-B14F-4D97-AF65-F5344CB8AC3E}">
        <p14:creationId xmlns:p14="http://schemas.microsoft.com/office/powerpoint/2010/main" val="10968271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B5DDC9-BD29-4FE7-8B2F-2EF50552AE89}"/>
              </a:ext>
            </a:extLst>
          </p:cNvPr>
          <p:cNvSpPr>
            <a:spLocks noGrp="1"/>
          </p:cNvSpPr>
          <p:nvPr>
            <p:ph type="title"/>
          </p:nvPr>
        </p:nvSpPr>
        <p:spPr>
          <a:xfrm>
            <a:off x="671014" y="474904"/>
            <a:ext cx="10058400" cy="1609344"/>
          </a:xfrm>
        </p:spPr>
        <p:txBody>
          <a:bodyPr/>
          <a:lstStyle/>
          <a:p>
            <a:r>
              <a:rPr lang="en-US" dirty="0"/>
              <a:t>With multiple control groups</a:t>
            </a:r>
          </a:p>
        </p:txBody>
      </p:sp>
      <p:pic>
        <p:nvPicPr>
          <p:cNvPr id="5" name="Espace réservé du contenu 4">
            <a:extLst>
              <a:ext uri="{FF2B5EF4-FFF2-40B4-BE49-F238E27FC236}">
                <a16:creationId xmlns:a16="http://schemas.microsoft.com/office/drawing/2014/main" id="{B8AD522E-7A8F-4619-A69F-137DDE479138}"/>
              </a:ext>
            </a:extLst>
          </p:cNvPr>
          <p:cNvPicPr>
            <a:picLocks noGrp="1" noChangeAspect="1"/>
          </p:cNvPicPr>
          <p:nvPr>
            <p:ph idx="1"/>
          </p:nvPr>
        </p:nvPicPr>
        <p:blipFill rotWithShape="1">
          <a:blip r:embed="rId2"/>
          <a:srcRect l="12156" t="14717" r="16530" b="17572"/>
          <a:stretch/>
        </p:blipFill>
        <p:spPr>
          <a:xfrm>
            <a:off x="272375" y="2256817"/>
            <a:ext cx="7986408" cy="4265466"/>
          </a:xfrm>
        </p:spPr>
      </p:pic>
    </p:spTree>
    <p:extLst>
      <p:ext uri="{BB962C8B-B14F-4D97-AF65-F5344CB8AC3E}">
        <p14:creationId xmlns:p14="http://schemas.microsoft.com/office/powerpoint/2010/main" val="22411950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E5C09C-C9F5-47FC-8050-ECA75C204D55}"/>
              </a:ext>
            </a:extLst>
          </p:cNvPr>
          <p:cNvSpPr>
            <a:spLocks noGrp="1"/>
          </p:cNvSpPr>
          <p:nvPr>
            <p:ph type="title"/>
          </p:nvPr>
        </p:nvSpPr>
        <p:spPr/>
        <p:txBody>
          <a:bodyPr/>
          <a:lstStyle/>
          <a:p>
            <a:r>
              <a:rPr lang="en-US" dirty="0"/>
              <a:t>With variation in the timing of the intervention</a:t>
            </a:r>
          </a:p>
        </p:txBody>
      </p:sp>
      <p:pic>
        <p:nvPicPr>
          <p:cNvPr id="5" name="Espace réservé du contenu 4">
            <a:extLst>
              <a:ext uri="{FF2B5EF4-FFF2-40B4-BE49-F238E27FC236}">
                <a16:creationId xmlns:a16="http://schemas.microsoft.com/office/drawing/2014/main" id="{8AF80505-9EAF-4E22-981F-43F8487FC614}"/>
              </a:ext>
            </a:extLst>
          </p:cNvPr>
          <p:cNvPicPr>
            <a:picLocks noGrp="1" noChangeAspect="1"/>
          </p:cNvPicPr>
          <p:nvPr>
            <p:ph idx="1"/>
          </p:nvPr>
        </p:nvPicPr>
        <p:blipFill rotWithShape="1">
          <a:blip r:embed="rId2"/>
          <a:srcRect l="11432" t="14584" b="25148"/>
          <a:stretch/>
        </p:blipFill>
        <p:spPr>
          <a:xfrm>
            <a:off x="155642" y="2093976"/>
            <a:ext cx="10794387" cy="4131726"/>
          </a:xfrm>
        </p:spPr>
      </p:pic>
    </p:spTree>
    <p:extLst>
      <p:ext uri="{BB962C8B-B14F-4D97-AF65-F5344CB8AC3E}">
        <p14:creationId xmlns:p14="http://schemas.microsoft.com/office/powerpoint/2010/main" val="7998647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873424-749D-44BF-AEED-2CBB145880BA}"/>
              </a:ext>
            </a:extLst>
          </p:cNvPr>
          <p:cNvSpPr>
            <a:spLocks noGrp="1"/>
          </p:cNvSpPr>
          <p:nvPr>
            <p:ph type="title"/>
          </p:nvPr>
        </p:nvSpPr>
        <p:spPr/>
        <p:txBody>
          <a:bodyPr/>
          <a:lstStyle/>
          <a:p>
            <a:r>
              <a:rPr lang="en-US" dirty="0"/>
              <a:t>Revisiting the workshop objectives</a:t>
            </a:r>
          </a:p>
        </p:txBody>
      </p:sp>
      <p:sp>
        <p:nvSpPr>
          <p:cNvPr id="3" name="Espace réservé du contenu 2">
            <a:extLst>
              <a:ext uri="{FF2B5EF4-FFF2-40B4-BE49-F238E27FC236}">
                <a16:creationId xmlns:a16="http://schemas.microsoft.com/office/drawing/2014/main" id="{838808CB-780C-4551-93F7-1F292DD12DD6}"/>
              </a:ext>
            </a:extLst>
          </p:cNvPr>
          <p:cNvSpPr>
            <a:spLocks noGrp="1"/>
          </p:cNvSpPr>
          <p:nvPr>
            <p:ph idx="1"/>
          </p:nvPr>
        </p:nvSpPr>
        <p:spPr/>
        <p:txBody>
          <a:bodyPr/>
          <a:lstStyle/>
          <a:p>
            <a:pPr marL="457200" indent="-457200">
              <a:buFont typeface="+mj-lt"/>
              <a:buAutoNum type="arabicPeriod"/>
            </a:pPr>
            <a:r>
              <a:rPr lang="en-US" sz="2000" dirty="0"/>
              <a:t>Understand the conceptual foundations of quasi-experimental methods based on the timing of a natural experiment </a:t>
            </a:r>
          </a:p>
          <a:p>
            <a:pPr marL="457200" indent="-457200">
              <a:buFont typeface="+mj-lt"/>
              <a:buAutoNum type="arabicPeriod"/>
            </a:pPr>
            <a:r>
              <a:rPr lang="en-US" sz="2000" dirty="0"/>
              <a:t>Understanding how Difference-in-Differences (DID), Interrupted Time Series (ITS) and Synthetic Control Methods (SCM) work and their specific identification assumptions. </a:t>
            </a:r>
          </a:p>
          <a:p>
            <a:pPr marL="457200" indent="-457200">
              <a:buFont typeface="+mj-lt"/>
              <a:buAutoNum type="arabicPeriod"/>
            </a:pPr>
            <a:r>
              <a:rPr lang="en-US" sz="2000" dirty="0"/>
              <a:t>Being able to implement (in </a:t>
            </a:r>
            <a:r>
              <a:rPr lang="en-US" sz="2000" i="1" dirty="0"/>
              <a:t>R</a:t>
            </a:r>
            <a:r>
              <a:rPr lang="en-US" sz="2000" dirty="0"/>
              <a:t>) DID, ITS and SCM in different settings, interpret </a:t>
            </a:r>
            <a:r>
              <a:rPr lang="en-US" sz="2000" dirty="0" err="1"/>
              <a:t>estimands</a:t>
            </a:r>
            <a:r>
              <a:rPr lang="en-US" sz="2000" dirty="0"/>
              <a:t> of interest and check/visualize possible assumptions’ violations</a:t>
            </a:r>
          </a:p>
          <a:p>
            <a:pPr lvl="1">
              <a:buFont typeface="Wingdings" panose="05000000000000000000" pitchFamily="2" charset="2"/>
              <a:buChar char="ü"/>
            </a:pPr>
            <a:r>
              <a:rPr lang="en-US" b="1" dirty="0">
                <a:solidFill>
                  <a:schemeClr val="accent1"/>
                </a:solidFill>
              </a:rPr>
              <a:t>Coming next</a:t>
            </a:r>
          </a:p>
          <a:p>
            <a:endParaRPr lang="en-US" dirty="0"/>
          </a:p>
        </p:txBody>
      </p:sp>
    </p:spTree>
    <p:extLst>
      <p:ext uri="{BB962C8B-B14F-4D97-AF65-F5344CB8AC3E}">
        <p14:creationId xmlns:p14="http://schemas.microsoft.com/office/powerpoint/2010/main" val="36353252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C562B2-81AE-4F16-9FB9-F3749FEA6085}"/>
              </a:ext>
            </a:extLst>
          </p:cNvPr>
          <p:cNvSpPr>
            <a:spLocks noGrp="1"/>
          </p:cNvSpPr>
          <p:nvPr>
            <p:ph type="title"/>
          </p:nvPr>
        </p:nvSpPr>
        <p:spPr>
          <a:xfrm>
            <a:off x="545973" y="551307"/>
            <a:ext cx="10058400" cy="1609344"/>
          </a:xfrm>
        </p:spPr>
        <p:txBody>
          <a:bodyPr>
            <a:normAutofit/>
          </a:bodyPr>
          <a:lstStyle/>
          <a:p>
            <a:r>
              <a:rPr lang="en-US" sz="4000" dirty="0"/>
              <a:t>References </a:t>
            </a:r>
          </a:p>
        </p:txBody>
      </p:sp>
      <p:sp>
        <p:nvSpPr>
          <p:cNvPr id="3" name="Espace réservé du contenu 2">
            <a:extLst>
              <a:ext uri="{FF2B5EF4-FFF2-40B4-BE49-F238E27FC236}">
                <a16:creationId xmlns:a16="http://schemas.microsoft.com/office/drawing/2014/main" id="{8C65EA65-E505-4FC4-9EA1-371549E52A98}"/>
              </a:ext>
            </a:extLst>
          </p:cNvPr>
          <p:cNvSpPr>
            <a:spLocks noGrp="1"/>
          </p:cNvSpPr>
          <p:nvPr>
            <p:ph idx="1"/>
          </p:nvPr>
        </p:nvSpPr>
        <p:spPr>
          <a:xfrm>
            <a:off x="364998" y="1740408"/>
            <a:ext cx="10950702" cy="4632960"/>
          </a:xfrm>
        </p:spPr>
        <p:txBody>
          <a:bodyPr>
            <a:normAutofit fontScale="92500" lnSpcReduction="10000"/>
          </a:bodyPr>
          <a:lstStyle/>
          <a:p>
            <a:r>
              <a:rPr lang="en-US" sz="1600" dirty="0"/>
              <a:t>Craig, P., </a:t>
            </a:r>
            <a:r>
              <a:rPr lang="en-US" sz="1600" dirty="0" err="1"/>
              <a:t>Katikireddi</a:t>
            </a:r>
            <a:r>
              <a:rPr lang="en-US" sz="1600" dirty="0"/>
              <a:t>, S. V., Leyland, A., &amp; Popham, F. (2017). Natural experiments: an overview of methods, approaches, and contributions to public health intervention research. Annual review of public health, 38, 39-56.</a:t>
            </a:r>
          </a:p>
          <a:p>
            <a:r>
              <a:rPr lang="en-US" sz="1600" dirty="0"/>
              <a:t>Abadie, A., Diamond, A., &amp; </a:t>
            </a:r>
            <a:r>
              <a:rPr lang="en-US" sz="1600" dirty="0" err="1"/>
              <a:t>Hainmueller</a:t>
            </a:r>
            <a:r>
              <a:rPr lang="en-US" sz="1600" dirty="0"/>
              <a:t>, J. (2010). Synthetic control methods for comparative case studies: Estimating the effect of California’s tobacco control program. Journal of the American statistical Association, 105(490), 493-505.</a:t>
            </a:r>
          </a:p>
          <a:p>
            <a:r>
              <a:rPr lang="en-US" sz="1600" dirty="0"/>
              <a:t>Xu, Y. (2017). Generalized synthetic control method: Causal inference with interactive fixed effects models. Political Analysis, 25(1), 57-76.</a:t>
            </a:r>
          </a:p>
          <a:p>
            <a:r>
              <a:rPr lang="en-US" sz="1600" dirty="0"/>
              <a:t>Acemoglu, D., Johnson, S., </a:t>
            </a:r>
            <a:r>
              <a:rPr lang="en-US" sz="1600" dirty="0" err="1"/>
              <a:t>Kermani</a:t>
            </a:r>
            <a:r>
              <a:rPr lang="en-US" sz="1600" dirty="0"/>
              <a:t>, A., Kwak, J. and Mitton, T., 2016. The value of connections in turbulent times: Evidence from the United States. Journal of Financial Economics, 121(2), pp.368-391.</a:t>
            </a:r>
          </a:p>
          <a:p>
            <a:r>
              <a:rPr lang="en-US" sz="1600" dirty="0"/>
              <a:t>Dube A, </a:t>
            </a:r>
            <a:r>
              <a:rPr lang="en-US" sz="1600" dirty="0" err="1"/>
              <a:t>Zipperer</a:t>
            </a:r>
            <a:r>
              <a:rPr lang="en-US" sz="1600" dirty="0"/>
              <a:t> B. Pooled synthetic control estimates for recurring treatment: an application to minimum wage studies, University of Massachusetts. Amherst Working Paper.2013</a:t>
            </a:r>
          </a:p>
          <a:p>
            <a:r>
              <a:rPr lang="en-US" sz="1600" dirty="0" err="1"/>
              <a:t>Kreif</a:t>
            </a:r>
            <a:r>
              <a:rPr lang="en-US" sz="1600" dirty="0"/>
              <a:t>, N., Grieve, R., </a:t>
            </a:r>
            <a:r>
              <a:rPr lang="en-US" sz="1600" dirty="0" err="1"/>
              <a:t>Hangartner</a:t>
            </a:r>
            <a:r>
              <a:rPr lang="en-US" sz="1600" dirty="0"/>
              <a:t>, D., Turner, A.J., </a:t>
            </a:r>
            <a:r>
              <a:rPr lang="en-US" sz="1600" dirty="0" err="1"/>
              <a:t>Nikolova</a:t>
            </a:r>
            <a:r>
              <a:rPr lang="en-US" sz="1600" dirty="0"/>
              <a:t>, S. and Sutton, M., 2016. Examination of the synthetic control method for evaluating health policies with multiple treated units. Health economics, 25(12), pp.1514-1528.</a:t>
            </a:r>
          </a:p>
          <a:p>
            <a:r>
              <a:rPr lang="en-US" sz="1600" dirty="0"/>
              <a:t>Goodman-Bacon, A. (2021). Difference-in-differences with variation in treatment timing. Journal of Econometrics.</a:t>
            </a:r>
          </a:p>
          <a:p>
            <a:r>
              <a:rPr lang="en-US" sz="1600" dirty="0"/>
              <a:t>Callaway, B., &amp; </a:t>
            </a:r>
            <a:r>
              <a:rPr lang="en-US" sz="1600" dirty="0" err="1"/>
              <a:t>Sant’Anna</a:t>
            </a:r>
            <a:r>
              <a:rPr lang="en-US" sz="1600" dirty="0"/>
              <a:t>, P. H. (2020). Difference-in-differences with multiple time periods. Journal of Econometrics.</a:t>
            </a:r>
          </a:p>
          <a:p>
            <a:r>
              <a:rPr lang="en-US" sz="1600" dirty="0"/>
              <a:t>Roth, J., &amp; </a:t>
            </a:r>
            <a:r>
              <a:rPr lang="en-US" sz="1600" dirty="0" err="1"/>
              <a:t>Sant'Anna</a:t>
            </a:r>
            <a:r>
              <a:rPr lang="en-US" sz="1600" dirty="0"/>
              <a:t>, P. H. (2020). When Is Parallel Trends Sensitive to Functional Form?. </a:t>
            </a:r>
            <a:r>
              <a:rPr lang="en-US" sz="1600" dirty="0" err="1"/>
              <a:t>arXiv</a:t>
            </a:r>
            <a:r>
              <a:rPr lang="en-US" sz="1600" dirty="0"/>
              <a:t> preprint arXiv:2010.04814.</a:t>
            </a:r>
          </a:p>
          <a:p>
            <a:r>
              <a:rPr lang="en-US" sz="1600" dirty="0" err="1"/>
              <a:t>Lipsitch</a:t>
            </a:r>
            <a:r>
              <a:rPr lang="en-US" sz="1600" dirty="0"/>
              <a:t>, M., </a:t>
            </a:r>
            <a:r>
              <a:rPr lang="en-US" sz="1600" dirty="0" err="1"/>
              <a:t>Tchetgen</a:t>
            </a:r>
            <a:r>
              <a:rPr lang="en-US" sz="1600" dirty="0"/>
              <a:t>, E. T., &amp; Cohen, T. (2010). Negative controls: a tool for detecting confounding and bias in observational studies. Epidemiology (Cambridge, Mass.), 21(3), 383.</a:t>
            </a:r>
          </a:p>
        </p:txBody>
      </p:sp>
    </p:spTree>
    <p:extLst>
      <p:ext uri="{BB962C8B-B14F-4D97-AF65-F5344CB8AC3E}">
        <p14:creationId xmlns:p14="http://schemas.microsoft.com/office/powerpoint/2010/main" val="38235784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4024" y="2508504"/>
            <a:ext cx="10058400" cy="1609344"/>
          </a:xfrm>
        </p:spPr>
        <p:txBody>
          <a:bodyPr>
            <a:normAutofit/>
          </a:bodyPr>
          <a:lstStyle/>
          <a:p>
            <a:pPr algn="ctr"/>
            <a:r>
              <a:rPr lang="en-US" sz="4400" dirty="0"/>
              <a:t>Thank You</a:t>
            </a:r>
            <a:br>
              <a:rPr lang="en-US" sz="4400" dirty="0"/>
            </a:br>
            <a:r>
              <a:rPr lang="en-US" sz="2400" dirty="0">
                <a:hlinkClick r:id="rId2"/>
              </a:rPr>
              <a:t>niaroch@ucla.edu</a:t>
            </a:r>
            <a:r>
              <a:rPr lang="en-US" sz="2400" dirty="0"/>
              <a:t>  </a:t>
            </a:r>
            <a:br>
              <a:rPr lang="en-US" sz="2400" dirty="0"/>
            </a:br>
            <a:r>
              <a:rPr lang="en-US" sz="2400" dirty="0">
                <a:hlinkClick r:id="rId3"/>
              </a:rPr>
              <a:t>tbenmarhnia@ucsd.edu</a:t>
            </a:r>
            <a:r>
              <a:rPr lang="en-US" sz="2400" dirty="0"/>
              <a:t> </a:t>
            </a:r>
            <a:endParaRPr lang="en-US" sz="1700" dirty="0"/>
          </a:p>
        </p:txBody>
      </p:sp>
    </p:spTree>
    <p:extLst>
      <p:ext uri="{BB962C8B-B14F-4D97-AF65-F5344CB8AC3E}">
        <p14:creationId xmlns:p14="http://schemas.microsoft.com/office/powerpoint/2010/main" val="5502610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ype de bois">
  <a:themeElements>
    <a:clrScheme name="Type de bois">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Type de bois">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ype de bois">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4851</TotalTime>
  <Words>2976</Words>
  <Application>Microsoft Office PowerPoint</Application>
  <PresentationFormat>Grand écran</PresentationFormat>
  <Paragraphs>299</Paragraphs>
  <Slides>51</Slides>
  <Notes>17</Notes>
  <HiddenSlides>0</HiddenSlides>
  <MMClips>0</MMClips>
  <ScaleCrop>false</ScaleCrop>
  <HeadingPairs>
    <vt:vector size="6" baseType="variant">
      <vt:variant>
        <vt:lpstr>Polices utilisées</vt:lpstr>
      </vt:variant>
      <vt:variant>
        <vt:i4>10</vt:i4>
      </vt:variant>
      <vt:variant>
        <vt:lpstr>Thème</vt:lpstr>
      </vt:variant>
      <vt:variant>
        <vt:i4>1</vt:i4>
      </vt:variant>
      <vt:variant>
        <vt:lpstr>Titres des diapositives</vt:lpstr>
      </vt:variant>
      <vt:variant>
        <vt:i4>51</vt:i4>
      </vt:variant>
    </vt:vector>
  </HeadingPairs>
  <TitlesOfParts>
    <vt:vector size="62" baseType="lpstr">
      <vt:lpstr>Arial</vt:lpstr>
      <vt:lpstr>Calibri</vt:lpstr>
      <vt:lpstr>Cambria</vt:lpstr>
      <vt:lpstr>Cambria Math</vt:lpstr>
      <vt:lpstr>Garamond</vt:lpstr>
      <vt:lpstr>Lato</vt:lpstr>
      <vt:lpstr>Rockwell</vt:lpstr>
      <vt:lpstr>Rockwell Condensed</vt:lpstr>
      <vt:lpstr>Times New Roman</vt:lpstr>
      <vt:lpstr>Wingdings</vt:lpstr>
      <vt:lpstr>Type de bois</vt:lpstr>
      <vt:lpstr>An introduction to Difference-in-Differences and Synthetic Control Methods for Epidemiologists</vt:lpstr>
      <vt:lpstr>Agenda for today</vt:lpstr>
      <vt:lpstr>Outline – Part 1   </vt:lpstr>
      <vt:lpstr>Workshop Objectives</vt:lpstr>
      <vt:lpstr>Randomization as a solution to deal with confounding </vt:lpstr>
      <vt:lpstr>Ideal randomized experiments</vt:lpstr>
      <vt:lpstr>The idea behind randomization</vt:lpstr>
      <vt:lpstr>Different types of RCTs</vt:lpstr>
      <vt:lpstr>Using Natural experiments</vt:lpstr>
      <vt:lpstr>Example of natural experiments not only for policy evaluation</vt:lpstr>
      <vt:lpstr>Difference-in-differences</vt:lpstr>
      <vt:lpstr>Présentation PowerPoint</vt:lpstr>
      <vt:lpstr>Difference-in-differences The standard approach</vt:lpstr>
      <vt:lpstr>How does it work?</vt:lpstr>
      <vt:lpstr>DID assumptions </vt:lpstr>
      <vt:lpstr>Many applications</vt:lpstr>
      <vt:lpstr>DiD coupled with Propensity Score methods</vt:lpstr>
      <vt:lpstr>Interrupted time series: DID without control groups</vt:lpstr>
      <vt:lpstr>ITS examples</vt:lpstr>
      <vt:lpstr>Controlled ITS or DID?</vt:lpstr>
      <vt:lpstr>synthetic control methods</vt:lpstr>
      <vt:lpstr>The intuition</vt:lpstr>
      <vt:lpstr>How Does it work?</vt:lpstr>
      <vt:lpstr>Steps in conducting a Synthetic control study</vt:lpstr>
      <vt:lpstr>Key assumptions</vt:lpstr>
      <vt:lpstr>Examples </vt:lpstr>
      <vt:lpstr>Overview: Comparing different approaches to evaluate natural experiments based on the timing of the intervention</vt:lpstr>
      <vt:lpstr>Multiple treated groups </vt:lpstr>
      <vt:lpstr>Extensions of traditional SC: Generalized Synthetic Control (GSC)</vt:lpstr>
      <vt:lpstr>Advantages of GSC</vt:lpstr>
      <vt:lpstr>Estimation Steps</vt:lpstr>
      <vt:lpstr>Case Study: 2007 Southern California Wildfires on respiratory hospitalizations [Sheridan et al. ]</vt:lpstr>
      <vt:lpstr>Results</vt:lpstr>
      <vt:lpstr>Présentation PowerPoint</vt:lpstr>
      <vt:lpstr>The importance of falsification tests</vt:lpstr>
      <vt:lpstr>Présentation PowerPoint</vt:lpstr>
      <vt:lpstr>The analytical Approach:  </vt:lpstr>
      <vt:lpstr>Sensitivity analyses </vt:lpstr>
      <vt:lpstr>Topics not discussed today</vt:lpstr>
      <vt:lpstr>Designing a study capitalizing on the timing of an intervention </vt:lpstr>
      <vt:lpstr>Step by step hypothetical example </vt:lpstr>
      <vt:lpstr>Simple before and after design</vt:lpstr>
      <vt:lpstr>What could go wrong</vt:lpstr>
      <vt:lpstr>Using an ITS approach</vt:lpstr>
      <vt:lpstr>What could go wrong</vt:lpstr>
      <vt:lpstr>Solution: DID or CITS If you have an eligible control group (with PT)</vt:lpstr>
      <vt:lpstr>With multiple control groups</vt:lpstr>
      <vt:lpstr>With variation in the timing of the intervention</vt:lpstr>
      <vt:lpstr>Revisiting the workshop objectives</vt:lpstr>
      <vt:lpstr>References </vt:lpstr>
      <vt:lpstr>Thank You niaroch@ucla.edu   tbenmarhnia@ucsd.edu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Moving beyond a state of exclusion</dc:title>
  <dc:creator>Tarik Benmarhnia</dc:creator>
  <cp:lastModifiedBy>Benmarhnia, Tarik</cp:lastModifiedBy>
  <cp:revision>1607</cp:revision>
  <dcterms:created xsi:type="dcterms:W3CDTF">2014-12-10T16:46:51Z</dcterms:created>
  <dcterms:modified xsi:type="dcterms:W3CDTF">2021-07-09T05:10:11Z</dcterms:modified>
</cp:coreProperties>
</file>